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29"/>
    <p:restoredTop sz="94610"/>
  </p:normalViewPr>
  <p:slideViewPr>
    <p:cSldViewPr snapToGrid="0" snapToObjects="1">
      <p:cViewPr>
        <p:scale>
          <a:sx n="110" d="100"/>
          <a:sy n="110" d="100"/>
        </p:scale>
        <p:origin x="84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</c:v>
                </c:pt>
              </c:strCache>
            </c:strRef>
          </c:tx>
          <c:spPr>
            <a:solidFill>
              <a:srgbClr val="0071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</c:v>
                </c:pt>
                <c:pt idx="6">
                  <c:v>FY31P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</c:v>
                </c:pt>
                <c:pt idx="1">
                  <c:v>106</c:v>
                </c:pt>
                <c:pt idx="2">
                  <c:v>120</c:v>
                </c:pt>
                <c:pt idx="3">
                  <c:v>136</c:v>
                </c:pt>
                <c:pt idx="4">
                  <c:v>149</c:v>
                </c:pt>
                <c:pt idx="5">
                  <c:v>164</c:v>
                </c:pt>
                <c:pt idx="6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36-B44A-B0F6-A4BA8167C6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Sector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528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5D6-3244-B3CD-200D30AFC0D0}"/>
              </c:ext>
            </c:extLst>
          </c:dPt>
          <c:dPt>
            <c:idx val="1"/>
            <c:bubble3D val="0"/>
            <c:spPr>
              <a:solidFill>
                <a:srgbClr val="0071C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5D6-3244-B3CD-200D30AFC0D0}"/>
              </c:ext>
            </c:extLst>
          </c:dPt>
          <c:dPt>
            <c:idx val="2"/>
            <c:bubble3D val="0"/>
            <c:spPr>
              <a:solidFill>
                <a:srgbClr val="F5A3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15D6-3244-B3CD-200D30AFC0D0}"/>
              </c:ext>
            </c:extLst>
          </c:dPt>
          <c:dPt>
            <c:idx val="3"/>
            <c:bubble3D val="0"/>
            <c:spPr>
              <a:solidFill>
                <a:srgbClr val="7FB6E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15D6-3244-B3CD-200D30AFC0D0}"/>
              </c:ext>
            </c:extLst>
          </c:dPt>
          <c:dPt>
            <c:idx val="4"/>
            <c:bubble3D val="0"/>
            <c:spPr>
              <a:solidFill>
                <a:srgbClr val="C9D9E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15D6-3244-B3CD-200D30AFC0D0}"/>
              </c:ext>
            </c:extLst>
          </c:dPt>
          <c:cat>
            <c:strRef>
              <c:f>Sheet1!$A$2:$A$6</c:f>
              <c:strCache>
                <c:ptCount val="5"/>
                <c:pt idx="0">
                  <c:v>B&amp;C</c:v>
                </c:pt>
                <c:pt idx="1">
                  <c:v>Infra</c:v>
                </c:pt>
                <c:pt idx="2">
                  <c:v>Auto</c:v>
                </c:pt>
                <c:pt idx="3">
                  <c:v>Eng</c:v>
                </c:pt>
                <c:pt idx="4">
                  <c:v>Def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25</c:v>
                </c:pt>
                <c:pt idx="2">
                  <c:v>9</c:v>
                </c:pt>
                <c:pt idx="3">
                  <c:v>22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5D6-3244-B3CD-200D30AFC0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MTPA</c:v>
                </c:pt>
              </c:strCache>
            </c:strRef>
          </c:tx>
          <c:spPr>
            <a:solidFill>
              <a:srgbClr val="0071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27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JSW</c:v>
                </c:pt>
                <c:pt idx="1">
                  <c:v>Tata Steel</c:v>
                </c:pt>
                <c:pt idx="2">
                  <c:v>SAIL</c:v>
                </c:pt>
                <c:pt idx="3">
                  <c:v>AM/NS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34.200000000000003</c:v>
                </c:pt>
                <c:pt idx="1">
                  <c:v>26.1</c:v>
                </c:pt>
                <c:pt idx="2">
                  <c:v>20.6</c:v>
                </c:pt>
                <c:pt idx="3">
                  <c:v>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E-5046-9AEE-418A905AF2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1" i="0" u="none" strike="noStrike">
                <a:solidFill>
                  <a:srgbClr val="1A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$/t</c:v>
                </c:pt>
              </c:strCache>
            </c:strRef>
          </c:tx>
          <c:spPr>
            <a:solidFill>
              <a:srgbClr val="0071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27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335</c:v>
                </c:pt>
                <c:pt idx="1">
                  <c:v>159</c:v>
                </c:pt>
                <c:pt idx="2">
                  <c:v>103</c:v>
                </c:pt>
                <c:pt idx="3">
                  <c:v>129</c:v>
                </c:pt>
                <c:pt idx="4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30-D94D-8032-4C3C7C562E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194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6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5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7.png"/><Relationship Id="rId10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9F21207-BA0B-A123-69FF-AF4E14103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206" y="687895"/>
            <a:ext cx="12242206" cy="61677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274320" y="2330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C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 ·  SALES PLANNING &amp; ADMINISTRATION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59150"/>
            <a:ext cx="1161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Price Intelligence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74320" y="1382110"/>
            <a:ext cx="3900115" cy="1086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Global Steel Price Dynamics and Inter-Nation Interdependence along with </a:t>
            </a:r>
          </a:p>
          <a:p>
            <a:r>
              <a:rPr lang="en-US" sz="16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of Key Variables Influencing International Steel Market Price Movements</a:t>
            </a:r>
            <a:endParaRPr lang="en-US" sz="16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3161D8-450B-E7E8-0640-B47FF80D5812}"/>
              </a:ext>
            </a:extLst>
          </p:cNvPr>
          <p:cNvGrpSpPr/>
          <p:nvPr/>
        </p:nvGrpSpPr>
        <p:grpSpPr>
          <a:xfrm>
            <a:off x="6778124" y="292496"/>
            <a:ext cx="4986302" cy="1161288"/>
            <a:chOff x="6778124" y="292496"/>
            <a:chExt cx="4986302" cy="1161288"/>
          </a:xfrm>
        </p:grpSpPr>
        <p:sp>
          <p:nvSpPr>
            <p:cNvPr id="16" name="Text 11"/>
            <p:cNvSpPr/>
            <p:nvPr/>
          </p:nvSpPr>
          <p:spPr>
            <a:xfrm>
              <a:off x="6778124" y="292496"/>
              <a:ext cx="498630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9CC6E6"/>
                  </a:solidFill>
                </a:rPr>
                <a:t>Prepared by  </a:t>
              </a:r>
              <a:r>
                <a:rPr lang="en-US" sz="1200" b="1" dirty="0">
                  <a:solidFill>
                    <a:srgbClr val="FFFFFF"/>
                  </a:solidFill>
                </a:rPr>
                <a:t>Bharat Mimani</a:t>
              </a:r>
              <a:endParaRPr lang="en-US" sz="120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6778124" y="749696"/>
              <a:ext cx="498630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9CC6E6"/>
                  </a:solidFill>
                </a:rPr>
                <a:t>Faculty Guide  </a:t>
              </a:r>
              <a:r>
                <a:rPr lang="en-US" sz="1200" b="1" dirty="0">
                  <a:solidFill>
                    <a:srgbClr val="FFFFFF"/>
                  </a:solidFill>
                </a:rPr>
                <a:t>Nikhil Rastogi</a:t>
              </a:r>
              <a:endParaRPr lang="en-US" sz="1200" b="1" dirty="0">
                <a:solidFill>
                  <a:srgbClr val="9CC6E6"/>
                </a:solidFill>
              </a:endParaRPr>
            </a:p>
            <a:p>
              <a:pPr marL="0" indent="0" algn="r">
                <a:buNone/>
              </a:pPr>
              <a:r>
                <a:rPr lang="en-US" sz="1200" dirty="0">
                  <a:solidFill>
                    <a:srgbClr val="9CC6E6"/>
                  </a:solidFill>
                </a:rPr>
                <a:t>Company Mentor  </a:t>
              </a:r>
              <a:r>
                <a:rPr lang="en-US" sz="1200" b="1" dirty="0">
                  <a:solidFill>
                    <a:srgbClr val="FFFFFF"/>
                  </a:solidFill>
                </a:rPr>
                <a:t>Pawan Kumar Mishra</a:t>
              </a:r>
              <a:endParaRPr lang="en-US" sz="12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6778124" y="1179464"/>
              <a:ext cx="498630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i="1" dirty="0">
                  <a:solidFill>
                    <a:srgbClr val="F5A3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hrcpipeline-tata-bharat.streamlit.app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00528E"/>
          </a:solidFill>
          <a:ln w="12700">
            <a:solidFill>
              <a:srgbClr val="0052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Industry in India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74320" y="1078992"/>
            <a:ext cx="1165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a long-product market,  but as the economy matures, flat products (autos, appliances, engineering) are gaining share.</a:t>
            </a:r>
            <a:endParaRPr lang="en-US" sz="12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13BF754-ACBE-475E-149F-3E8FDD989E56}"/>
              </a:ext>
            </a:extLst>
          </p:cNvPr>
          <p:cNvGrpSpPr/>
          <p:nvPr/>
        </p:nvGrpSpPr>
        <p:grpSpPr>
          <a:xfrm>
            <a:off x="274320" y="1517904"/>
            <a:ext cx="11658600" cy="1005840"/>
            <a:chOff x="274320" y="1517904"/>
            <a:chExt cx="11658600" cy="1005840"/>
          </a:xfrm>
        </p:grpSpPr>
        <p:sp>
          <p:nvSpPr>
            <p:cNvPr id="19" name="Shape 17"/>
            <p:cNvSpPr/>
            <p:nvPr/>
          </p:nvSpPr>
          <p:spPr>
            <a:xfrm>
              <a:off x="274320" y="1517904"/>
              <a:ext cx="3752088" cy="1005840"/>
            </a:xfrm>
            <a:prstGeom prst="roundRect">
              <a:avLst>
                <a:gd name="adj" fmla="val 5455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20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912" y="1764792"/>
              <a:ext cx="493776" cy="493776"/>
            </a:xfrm>
            <a:prstGeom prst="rect">
              <a:avLst/>
            </a:prstGeom>
          </p:spPr>
        </p:pic>
        <p:sp>
          <p:nvSpPr>
            <p:cNvPr id="21" name="Text 18"/>
            <p:cNvSpPr/>
            <p:nvPr/>
          </p:nvSpPr>
          <p:spPr>
            <a:xfrm>
              <a:off x="1113420" y="1591056"/>
              <a:ext cx="23042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#2</a:t>
              </a:r>
              <a:endParaRPr lang="en-US" sz="25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1113420" y="2029968"/>
              <a:ext cx="230428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World's 2</a:t>
              </a:r>
              <a:r>
                <a:rPr lang="en-US" sz="1200" baseline="30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nd</a:t>
              </a: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largest steel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producer (~151 MT crude, FY25)</a:t>
              </a:r>
              <a:endParaRPr lang="en-US" sz="12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4227576" y="1517904"/>
              <a:ext cx="3752088" cy="1005840"/>
            </a:xfrm>
            <a:prstGeom prst="roundRect">
              <a:avLst>
                <a:gd name="adj" fmla="val 5455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24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2168" y="1764792"/>
              <a:ext cx="493776" cy="493776"/>
            </a:xfrm>
            <a:prstGeom prst="rect">
              <a:avLst/>
            </a:prstGeom>
          </p:spPr>
        </p:pic>
        <p:sp>
          <p:nvSpPr>
            <p:cNvPr id="25" name="Text 21"/>
            <p:cNvSpPr/>
            <p:nvPr/>
          </p:nvSpPr>
          <p:spPr>
            <a:xfrm>
              <a:off x="5066676" y="1591056"/>
              <a:ext cx="2346962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 kg</a:t>
              </a:r>
              <a:endParaRPr lang="en-US" sz="250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5066676" y="2029968"/>
              <a:ext cx="2346962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Per-capita use vs 221 kg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world avg</a:t>
              </a:r>
              <a:endParaRPr lang="en-US" sz="1200" dirty="0"/>
            </a:p>
          </p:txBody>
        </p:sp>
        <p:sp>
          <p:nvSpPr>
            <p:cNvPr id="27" name="Shape 23"/>
            <p:cNvSpPr/>
            <p:nvPr/>
          </p:nvSpPr>
          <p:spPr>
            <a:xfrm>
              <a:off x="8180832" y="1517904"/>
              <a:ext cx="3752088" cy="1005840"/>
            </a:xfrm>
            <a:prstGeom prst="roundRect">
              <a:avLst>
                <a:gd name="adj" fmla="val 5455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45424" y="1764792"/>
              <a:ext cx="493776" cy="493776"/>
            </a:xfrm>
            <a:prstGeom prst="rect">
              <a:avLst/>
            </a:prstGeom>
          </p:spPr>
        </p:pic>
        <p:sp>
          <p:nvSpPr>
            <p:cNvPr id="29" name="Text 24"/>
            <p:cNvSpPr/>
            <p:nvPr/>
          </p:nvSpPr>
          <p:spPr>
            <a:xfrm>
              <a:off x="9019932" y="1591056"/>
              <a:ext cx="216622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6–7%</a:t>
              </a:r>
              <a:endParaRPr lang="en-US" sz="2500" dirty="0"/>
            </a:p>
          </p:txBody>
        </p:sp>
        <p:sp>
          <p:nvSpPr>
            <p:cNvPr id="30" name="Text 25"/>
            <p:cNvSpPr/>
            <p:nvPr/>
          </p:nvSpPr>
          <p:spPr>
            <a:xfrm>
              <a:off x="9019932" y="2029968"/>
              <a:ext cx="216622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Demand CAGR; 150 → 230 MT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by FY31 (projected)</a:t>
              </a:r>
              <a:endParaRPr lang="en-US" sz="1200" dirty="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D04416B-BB1B-4219-8BE7-77A29C4D6321}"/>
              </a:ext>
            </a:extLst>
          </p:cNvPr>
          <p:cNvGrpSpPr/>
          <p:nvPr/>
        </p:nvGrpSpPr>
        <p:grpSpPr>
          <a:xfrm>
            <a:off x="274320" y="2724912"/>
            <a:ext cx="6446520" cy="3703320"/>
            <a:chOff x="274320" y="2724912"/>
            <a:chExt cx="6446520" cy="3703320"/>
          </a:xfrm>
        </p:grpSpPr>
        <p:sp>
          <p:nvSpPr>
            <p:cNvPr id="31" name="Shape 26"/>
            <p:cNvSpPr/>
            <p:nvPr/>
          </p:nvSpPr>
          <p:spPr>
            <a:xfrm>
              <a:off x="274320" y="2724912"/>
              <a:ext cx="3131820" cy="3703320"/>
            </a:xfrm>
            <a:prstGeom prst="roundRect">
              <a:avLst>
                <a:gd name="adj" fmla="val 146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2" name="Shape 27"/>
            <p:cNvSpPr/>
            <p:nvPr/>
          </p:nvSpPr>
          <p:spPr>
            <a:xfrm>
              <a:off x="274320" y="2724912"/>
              <a:ext cx="313182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33" name="Shape 28"/>
            <p:cNvSpPr/>
            <p:nvPr/>
          </p:nvSpPr>
          <p:spPr>
            <a:xfrm>
              <a:off x="274320" y="2889504"/>
              <a:ext cx="313182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34" name="Text 29"/>
            <p:cNvSpPr/>
            <p:nvPr/>
          </p:nvSpPr>
          <p:spPr>
            <a:xfrm>
              <a:off x="274320" y="2724912"/>
              <a:ext cx="31318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FLAT PRODUCTS</a:t>
              </a:r>
              <a:endParaRPr lang="en-US" sz="1200" dirty="0"/>
            </a:p>
          </p:txBody>
        </p:sp>
        <p:sp>
          <p:nvSpPr>
            <p:cNvPr id="35" name="Text 30"/>
            <p:cNvSpPr/>
            <p:nvPr/>
          </p:nvSpPr>
          <p:spPr>
            <a:xfrm>
              <a:off x="420624" y="3173508"/>
              <a:ext cx="28392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0528E"/>
                  </a:solidFill>
                </a:rPr>
                <a:t>53–55%  </a:t>
              </a:r>
              <a:r>
                <a:rPr lang="en-US" sz="1200" dirty="0">
                  <a:solidFill>
                    <a:srgbClr val="5B6770"/>
                  </a:solidFill>
                </a:rPr>
                <a:t>of demand</a:t>
              </a:r>
              <a:endParaRPr lang="en-US" sz="1200" dirty="0"/>
            </a:p>
          </p:txBody>
        </p:sp>
        <p:pic>
          <p:nvPicPr>
            <p:cNvPr id="36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39212" y="3127248"/>
              <a:ext cx="365760" cy="365760"/>
            </a:xfrm>
            <a:prstGeom prst="rect">
              <a:avLst/>
            </a:prstGeom>
          </p:spPr>
        </p:pic>
        <p:sp>
          <p:nvSpPr>
            <p:cNvPr id="37" name="Text 31"/>
            <p:cNvSpPr/>
            <p:nvPr/>
          </p:nvSpPr>
          <p:spPr>
            <a:xfrm>
              <a:off x="420624" y="3480098"/>
              <a:ext cx="283921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80–88 MT consumed in India</a:t>
              </a:r>
              <a:endParaRPr lang="en-US" sz="1200" dirty="0"/>
            </a:p>
          </p:txBody>
        </p:sp>
        <p:sp>
          <p:nvSpPr>
            <p:cNvPr id="38" name="Text 32"/>
            <p:cNvSpPr/>
            <p:nvPr/>
          </p:nvSpPr>
          <p:spPr>
            <a:xfrm>
              <a:off x="420624" y="3889974"/>
              <a:ext cx="283921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71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products</a:t>
              </a:r>
              <a:endParaRPr lang="en-US" sz="1200" dirty="0"/>
            </a:p>
          </p:txBody>
        </p:sp>
        <p:sp>
          <p:nvSpPr>
            <p:cNvPr id="39" name="Text 33"/>
            <p:cNvSpPr/>
            <p:nvPr/>
          </p:nvSpPr>
          <p:spPr>
            <a:xfrm>
              <a:off x="420624" y="4144932"/>
              <a:ext cx="2839212" cy="4916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733"/>
                  </a:solidFill>
                </a:rPr>
                <a:t>HRC, CRC, galvanised</a:t>
              </a:r>
              <a:endParaRPr lang="en-US" sz="120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733"/>
                  </a:solidFill>
                </a:rPr>
                <a:t>Plates, sheets, slabs, tubes</a:t>
              </a:r>
              <a:endParaRPr lang="en-US" sz="1200" dirty="0"/>
            </a:p>
          </p:txBody>
        </p:sp>
        <p:sp>
          <p:nvSpPr>
            <p:cNvPr id="40" name="Text 34"/>
            <p:cNvSpPr/>
            <p:nvPr/>
          </p:nvSpPr>
          <p:spPr>
            <a:xfrm>
              <a:off x="420624" y="4794686"/>
              <a:ext cx="283921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71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End-use sectors</a:t>
              </a:r>
              <a:endParaRPr lang="en-US" sz="1200" dirty="0"/>
            </a:p>
          </p:txBody>
        </p:sp>
        <p:pic>
          <p:nvPicPr>
            <p:cNvPr id="41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8366" y="5121719"/>
              <a:ext cx="274320" cy="274320"/>
            </a:xfrm>
            <a:prstGeom prst="rect">
              <a:avLst/>
            </a:prstGeom>
          </p:spPr>
        </p:pic>
        <p:sp>
          <p:nvSpPr>
            <p:cNvPr id="42" name="Text 35"/>
            <p:cNvSpPr/>
            <p:nvPr/>
          </p:nvSpPr>
          <p:spPr>
            <a:xfrm>
              <a:off x="402336" y="5414327"/>
              <a:ext cx="74637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</a:t>
              </a:r>
              <a:endParaRPr lang="en-US" sz="1000" dirty="0"/>
            </a:p>
          </p:txBody>
        </p:sp>
        <p:pic>
          <p:nvPicPr>
            <p:cNvPr id="43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48169" y="5121719"/>
              <a:ext cx="274320" cy="274320"/>
            </a:xfrm>
            <a:prstGeom prst="rect">
              <a:avLst/>
            </a:prstGeom>
          </p:spPr>
        </p:pic>
        <p:sp>
          <p:nvSpPr>
            <p:cNvPr id="44" name="Text 36"/>
            <p:cNvSpPr/>
            <p:nvPr/>
          </p:nvSpPr>
          <p:spPr>
            <a:xfrm>
              <a:off x="1112139" y="5414327"/>
              <a:ext cx="74637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Appliances</a:t>
              </a:r>
              <a:endParaRPr lang="en-US" sz="1000" dirty="0"/>
            </a:p>
          </p:txBody>
        </p:sp>
        <p:pic>
          <p:nvPicPr>
            <p:cNvPr id="45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57972" y="5121719"/>
              <a:ext cx="274320" cy="274320"/>
            </a:xfrm>
            <a:prstGeom prst="rect">
              <a:avLst/>
            </a:prstGeom>
          </p:spPr>
        </p:pic>
        <p:sp>
          <p:nvSpPr>
            <p:cNvPr id="46" name="Text 37"/>
            <p:cNvSpPr/>
            <p:nvPr/>
          </p:nvSpPr>
          <p:spPr>
            <a:xfrm>
              <a:off x="1821942" y="5414327"/>
              <a:ext cx="74637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Mfg</a:t>
              </a:r>
              <a:endParaRPr lang="en-US" sz="1000" dirty="0"/>
            </a:p>
          </p:txBody>
        </p:sp>
        <p:pic>
          <p:nvPicPr>
            <p:cNvPr id="47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767775" y="5121719"/>
              <a:ext cx="274320" cy="274320"/>
            </a:xfrm>
            <a:prstGeom prst="rect">
              <a:avLst/>
            </a:prstGeom>
          </p:spPr>
        </p:pic>
        <p:sp>
          <p:nvSpPr>
            <p:cNvPr id="48" name="Text 38"/>
            <p:cNvSpPr/>
            <p:nvPr/>
          </p:nvSpPr>
          <p:spPr>
            <a:xfrm>
              <a:off x="2531745" y="5414327"/>
              <a:ext cx="74637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Heavy eng</a:t>
              </a:r>
              <a:endParaRPr lang="en-US" sz="1000" dirty="0"/>
            </a:p>
          </p:txBody>
        </p:sp>
        <p:sp>
          <p:nvSpPr>
            <p:cNvPr id="49" name="Shape 39"/>
            <p:cNvSpPr/>
            <p:nvPr/>
          </p:nvSpPr>
          <p:spPr>
            <a:xfrm>
              <a:off x="420624" y="5706936"/>
              <a:ext cx="2839212" cy="612103"/>
            </a:xfrm>
            <a:prstGeom prst="roundRect">
              <a:avLst>
                <a:gd name="adj" fmla="val 6757"/>
              </a:avLst>
            </a:prstGeom>
            <a:solidFill>
              <a:srgbClr val="EAF3FB"/>
            </a:solidFill>
            <a:ln/>
          </p:spPr>
        </p:sp>
        <p:sp>
          <p:nvSpPr>
            <p:cNvPr id="50" name="Text 40"/>
            <p:cNvSpPr/>
            <p:nvPr/>
          </p:nvSpPr>
          <p:spPr>
            <a:xfrm>
              <a:off x="530352" y="5795688"/>
              <a:ext cx="265633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TSL volume</a:t>
              </a:r>
              <a:endParaRPr lang="en-US" sz="1000" dirty="0"/>
            </a:p>
          </p:txBody>
        </p:sp>
        <p:sp>
          <p:nvSpPr>
            <p:cNvPr id="51" name="Text 41"/>
            <p:cNvSpPr/>
            <p:nvPr/>
          </p:nvSpPr>
          <p:spPr>
            <a:xfrm>
              <a:off x="530352" y="6014070"/>
              <a:ext cx="2656332" cy="2909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FY27 ABP 19.3 MT → FY31 proj. 20.3 MT</a:t>
              </a:r>
              <a:endParaRPr lang="en-US" sz="1200" dirty="0"/>
            </a:p>
          </p:txBody>
        </p:sp>
        <p:sp>
          <p:nvSpPr>
            <p:cNvPr id="52" name="Shape 42"/>
            <p:cNvSpPr/>
            <p:nvPr/>
          </p:nvSpPr>
          <p:spPr>
            <a:xfrm>
              <a:off x="3589020" y="2724912"/>
              <a:ext cx="3131820" cy="3703320"/>
            </a:xfrm>
            <a:prstGeom prst="roundRect">
              <a:avLst>
                <a:gd name="adj" fmla="val 146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3" name="Shape 43"/>
            <p:cNvSpPr/>
            <p:nvPr/>
          </p:nvSpPr>
          <p:spPr>
            <a:xfrm>
              <a:off x="3589020" y="2724912"/>
              <a:ext cx="313182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54" name="Shape 44"/>
            <p:cNvSpPr/>
            <p:nvPr/>
          </p:nvSpPr>
          <p:spPr>
            <a:xfrm>
              <a:off x="3589020" y="2889504"/>
              <a:ext cx="313182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55" name="Text 45"/>
            <p:cNvSpPr/>
            <p:nvPr/>
          </p:nvSpPr>
          <p:spPr>
            <a:xfrm>
              <a:off x="3589020" y="2724912"/>
              <a:ext cx="31318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LONG PRODUCTS</a:t>
              </a:r>
              <a:endParaRPr lang="en-US" sz="1200" dirty="0"/>
            </a:p>
          </p:txBody>
        </p:sp>
        <p:sp>
          <p:nvSpPr>
            <p:cNvPr id="56" name="Text 46"/>
            <p:cNvSpPr/>
            <p:nvPr/>
          </p:nvSpPr>
          <p:spPr>
            <a:xfrm>
              <a:off x="3735324" y="3173508"/>
              <a:ext cx="28392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0528E"/>
                  </a:solidFill>
                </a:rPr>
                <a:t>45–47%  </a:t>
              </a:r>
              <a:r>
                <a:rPr lang="en-US" sz="1200" dirty="0">
                  <a:solidFill>
                    <a:srgbClr val="5B6770"/>
                  </a:solidFill>
                </a:rPr>
                <a:t>of demand</a:t>
              </a:r>
              <a:endParaRPr lang="en-US" sz="1200" dirty="0"/>
            </a:p>
          </p:txBody>
        </p:sp>
        <p:pic>
          <p:nvPicPr>
            <p:cNvPr id="57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153912" y="3127248"/>
              <a:ext cx="365760" cy="365760"/>
            </a:xfrm>
            <a:prstGeom prst="rect">
              <a:avLst/>
            </a:prstGeom>
          </p:spPr>
        </p:pic>
        <p:sp>
          <p:nvSpPr>
            <p:cNvPr id="58" name="Text 47"/>
            <p:cNvSpPr/>
            <p:nvPr/>
          </p:nvSpPr>
          <p:spPr>
            <a:xfrm>
              <a:off x="3735324" y="3480098"/>
              <a:ext cx="283921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68–75 MT consumed in India</a:t>
              </a:r>
              <a:endParaRPr lang="en-US" sz="1200" dirty="0"/>
            </a:p>
          </p:txBody>
        </p:sp>
        <p:sp>
          <p:nvSpPr>
            <p:cNvPr id="59" name="Text 48"/>
            <p:cNvSpPr/>
            <p:nvPr/>
          </p:nvSpPr>
          <p:spPr>
            <a:xfrm>
              <a:off x="3735324" y="3889974"/>
              <a:ext cx="283921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71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products</a:t>
              </a:r>
              <a:endParaRPr lang="en-US" sz="1200" dirty="0"/>
            </a:p>
          </p:txBody>
        </p:sp>
        <p:sp>
          <p:nvSpPr>
            <p:cNvPr id="60" name="Text 49"/>
            <p:cNvSpPr/>
            <p:nvPr/>
          </p:nvSpPr>
          <p:spPr>
            <a:xfrm>
              <a:off x="3735324" y="4144932"/>
              <a:ext cx="2839212" cy="4916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733"/>
                  </a:solidFill>
                </a:rPr>
                <a:t>TMT bars, rebars, wire rods</a:t>
              </a:r>
              <a:endParaRPr lang="en-US" sz="1200" dirty="0"/>
            </a:p>
            <a:p>
              <a:pPr marL="342900" indent="-342900">
                <a:spcAft>
                  <a:spcPts val="200"/>
                </a:spcAft>
                <a:buSzPct val="100000"/>
                <a:buChar char="•"/>
              </a:pPr>
              <a:r>
                <a:rPr lang="en-US" sz="1200" dirty="0">
                  <a:solidFill>
                    <a:srgbClr val="1A2733"/>
                  </a:solidFill>
                </a:rPr>
                <a:t>Structurals, beams &amp; sections</a:t>
              </a:r>
              <a:endParaRPr lang="en-US" sz="1200" dirty="0"/>
            </a:p>
          </p:txBody>
        </p:sp>
        <p:sp>
          <p:nvSpPr>
            <p:cNvPr id="61" name="Text 50"/>
            <p:cNvSpPr/>
            <p:nvPr/>
          </p:nvSpPr>
          <p:spPr>
            <a:xfrm>
              <a:off x="3735324" y="4794686"/>
              <a:ext cx="283921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71C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End-use sectors</a:t>
              </a:r>
              <a:endParaRPr lang="en-US" sz="1200" dirty="0"/>
            </a:p>
          </p:txBody>
        </p:sp>
        <p:pic>
          <p:nvPicPr>
            <p:cNvPr id="62" name="Image 9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53065" y="5121719"/>
              <a:ext cx="274320" cy="274320"/>
            </a:xfrm>
            <a:prstGeom prst="rect">
              <a:avLst/>
            </a:prstGeom>
          </p:spPr>
        </p:pic>
        <p:sp>
          <p:nvSpPr>
            <p:cNvPr id="63" name="Text 51"/>
            <p:cNvSpPr/>
            <p:nvPr/>
          </p:nvSpPr>
          <p:spPr>
            <a:xfrm>
              <a:off x="3717036" y="5414327"/>
              <a:ext cx="74637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Construction</a:t>
              </a:r>
              <a:endParaRPr lang="en-US" sz="1000" dirty="0"/>
            </a:p>
          </p:txBody>
        </p:sp>
        <p:pic>
          <p:nvPicPr>
            <p:cNvPr id="64" name="Image 10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62868" y="5121719"/>
              <a:ext cx="274320" cy="274320"/>
            </a:xfrm>
            <a:prstGeom prst="rect">
              <a:avLst/>
            </a:prstGeom>
          </p:spPr>
        </p:pic>
        <p:sp>
          <p:nvSpPr>
            <p:cNvPr id="65" name="Text 52"/>
            <p:cNvSpPr/>
            <p:nvPr/>
          </p:nvSpPr>
          <p:spPr>
            <a:xfrm>
              <a:off x="4426839" y="5414327"/>
              <a:ext cx="74637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Infra</a:t>
              </a:r>
              <a:endParaRPr lang="en-US" sz="1000" dirty="0"/>
            </a:p>
          </p:txBody>
        </p:sp>
        <p:pic>
          <p:nvPicPr>
            <p:cNvPr id="66" name="Image 11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72671" y="5121719"/>
              <a:ext cx="274320" cy="274320"/>
            </a:xfrm>
            <a:prstGeom prst="rect">
              <a:avLst/>
            </a:prstGeom>
          </p:spPr>
        </p:pic>
        <p:sp>
          <p:nvSpPr>
            <p:cNvPr id="67" name="Text 53"/>
            <p:cNvSpPr/>
            <p:nvPr/>
          </p:nvSpPr>
          <p:spPr>
            <a:xfrm>
              <a:off x="5136642" y="5414327"/>
              <a:ext cx="74637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Railways</a:t>
              </a:r>
              <a:endParaRPr lang="en-US" sz="1000" dirty="0"/>
            </a:p>
          </p:txBody>
        </p:sp>
        <p:pic>
          <p:nvPicPr>
            <p:cNvPr id="68" name="Image 12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082475" y="5121719"/>
              <a:ext cx="274320" cy="274320"/>
            </a:xfrm>
            <a:prstGeom prst="rect">
              <a:avLst/>
            </a:prstGeom>
          </p:spPr>
        </p:pic>
        <p:sp>
          <p:nvSpPr>
            <p:cNvPr id="69" name="Text 54"/>
            <p:cNvSpPr/>
            <p:nvPr/>
          </p:nvSpPr>
          <p:spPr>
            <a:xfrm>
              <a:off x="5846445" y="5414327"/>
              <a:ext cx="746379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</a:t>
              </a:r>
              <a:endParaRPr lang="en-US" sz="1000" dirty="0"/>
            </a:p>
          </p:txBody>
        </p:sp>
        <p:sp>
          <p:nvSpPr>
            <p:cNvPr id="70" name="Shape 55"/>
            <p:cNvSpPr/>
            <p:nvPr/>
          </p:nvSpPr>
          <p:spPr>
            <a:xfrm>
              <a:off x="3735324" y="5706936"/>
              <a:ext cx="2839212" cy="612103"/>
            </a:xfrm>
            <a:prstGeom prst="roundRect">
              <a:avLst>
                <a:gd name="adj" fmla="val 6757"/>
              </a:avLst>
            </a:prstGeom>
            <a:solidFill>
              <a:srgbClr val="EAF3FB"/>
            </a:solidFill>
            <a:ln/>
          </p:spPr>
        </p:sp>
        <p:sp>
          <p:nvSpPr>
            <p:cNvPr id="71" name="Text 56"/>
            <p:cNvSpPr/>
            <p:nvPr/>
          </p:nvSpPr>
          <p:spPr>
            <a:xfrm>
              <a:off x="3845052" y="5795688"/>
              <a:ext cx="2656332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TSL volume</a:t>
              </a:r>
              <a:endParaRPr lang="en-US" sz="1000" dirty="0"/>
            </a:p>
          </p:txBody>
        </p:sp>
        <p:sp>
          <p:nvSpPr>
            <p:cNvPr id="72" name="Text 57"/>
            <p:cNvSpPr/>
            <p:nvPr/>
          </p:nvSpPr>
          <p:spPr>
            <a:xfrm>
              <a:off x="3845052" y="6014070"/>
              <a:ext cx="2656332" cy="2909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FY27 ABP 5.74 MT → FY31 proj. 11.85 MT</a:t>
              </a:r>
              <a:endParaRPr lang="en-US" sz="1200" dirty="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3F261BA-6F74-540C-FCE4-7B31003C4444}"/>
              </a:ext>
            </a:extLst>
          </p:cNvPr>
          <p:cNvGrpSpPr/>
          <p:nvPr/>
        </p:nvGrpSpPr>
        <p:grpSpPr>
          <a:xfrm>
            <a:off x="6949440" y="2724912"/>
            <a:ext cx="4983480" cy="1828800"/>
            <a:chOff x="6949440" y="2724912"/>
            <a:chExt cx="4983480" cy="1828800"/>
          </a:xfrm>
        </p:grpSpPr>
        <p:sp>
          <p:nvSpPr>
            <p:cNvPr id="73" name="Shape 58"/>
            <p:cNvSpPr/>
            <p:nvPr/>
          </p:nvSpPr>
          <p:spPr>
            <a:xfrm>
              <a:off x="6949440" y="2724912"/>
              <a:ext cx="4983480" cy="18288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4" name="Shape 59"/>
            <p:cNvSpPr/>
            <p:nvPr/>
          </p:nvSpPr>
          <p:spPr>
            <a:xfrm>
              <a:off x="6949440" y="2724912"/>
              <a:ext cx="498348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75" name="Shape 60"/>
            <p:cNvSpPr/>
            <p:nvPr/>
          </p:nvSpPr>
          <p:spPr>
            <a:xfrm>
              <a:off x="6949440" y="2889504"/>
              <a:ext cx="498348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76" name="Text 61"/>
            <p:cNvSpPr/>
            <p:nvPr/>
          </p:nvSpPr>
          <p:spPr>
            <a:xfrm>
              <a:off x="6949440" y="2724912"/>
              <a:ext cx="49834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Rising finished-steel demand (MT)</a:t>
              </a:r>
              <a:endParaRPr lang="en-US" sz="1200" dirty="0"/>
            </a:p>
          </p:txBody>
        </p:sp>
        <p:graphicFrame>
          <p:nvGraphicFramePr>
            <p:cNvPr id="77" name="Chart 0"/>
            <p:cNvGraphicFramePr/>
            <p:nvPr>
              <p:extLst>
                <p:ext uri="{D42A27DB-BD31-4B8C-83A1-F6EECF244321}">
                  <p14:modId xmlns:p14="http://schemas.microsoft.com/office/powerpoint/2010/main" val="1516779295"/>
                </p:ext>
              </p:extLst>
            </p:nvPr>
          </p:nvGraphicFramePr>
          <p:xfrm>
            <a:off x="7040880" y="3108960"/>
            <a:ext cx="4800600" cy="13533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7691A98-53EB-F9C4-7802-88D4DCB13D6D}"/>
              </a:ext>
            </a:extLst>
          </p:cNvPr>
          <p:cNvGrpSpPr/>
          <p:nvPr/>
        </p:nvGrpSpPr>
        <p:grpSpPr>
          <a:xfrm>
            <a:off x="6949440" y="4672584"/>
            <a:ext cx="4983480" cy="1755648"/>
            <a:chOff x="6949440" y="4672584"/>
            <a:chExt cx="4983480" cy="1755648"/>
          </a:xfrm>
        </p:grpSpPr>
        <p:sp>
          <p:nvSpPr>
            <p:cNvPr id="78" name="Shape 62"/>
            <p:cNvSpPr/>
            <p:nvPr/>
          </p:nvSpPr>
          <p:spPr>
            <a:xfrm>
              <a:off x="6949440" y="4672584"/>
              <a:ext cx="4983480" cy="1755648"/>
            </a:xfrm>
            <a:prstGeom prst="roundRect">
              <a:avLst>
                <a:gd name="adj" fmla="val 2604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9" name="Shape 63"/>
            <p:cNvSpPr/>
            <p:nvPr/>
          </p:nvSpPr>
          <p:spPr>
            <a:xfrm>
              <a:off x="6949440" y="4672584"/>
              <a:ext cx="498348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80" name="Shape 64"/>
            <p:cNvSpPr/>
            <p:nvPr/>
          </p:nvSpPr>
          <p:spPr>
            <a:xfrm>
              <a:off x="6949440" y="4837176"/>
              <a:ext cx="498348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81" name="Text 65"/>
            <p:cNvSpPr/>
            <p:nvPr/>
          </p:nvSpPr>
          <p:spPr>
            <a:xfrm>
              <a:off x="6949440" y="4672584"/>
              <a:ext cx="49834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FY26 demand by sector (164 MT)</a:t>
              </a:r>
              <a:endParaRPr lang="en-US" sz="1100" dirty="0"/>
            </a:p>
          </p:txBody>
        </p:sp>
        <p:graphicFrame>
          <p:nvGraphicFramePr>
            <p:cNvPr id="82" name="Chart 1"/>
            <p:cNvGraphicFramePr/>
            <p:nvPr>
              <p:extLst>
                <p:ext uri="{D42A27DB-BD31-4B8C-83A1-F6EECF244321}">
                  <p14:modId xmlns:p14="http://schemas.microsoft.com/office/powerpoint/2010/main" val="1068635721"/>
                </p:ext>
              </p:extLst>
            </p:nvPr>
          </p:nvGraphicFramePr>
          <p:xfrm>
            <a:off x="6995160" y="5074920"/>
            <a:ext cx="1737360" cy="12618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7"/>
            </a:graphicData>
          </a:graphic>
        </p:graphicFrame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DEC91DD4-89CB-949A-5733-B615955D92FD}"/>
                </a:ext>
              </a:extLst>
            </p:cNvPr>
            <p:cNvGrpSpPr/>
            <p:nvPr/>
          </p:nvGrpSpPr>
          <p:grpSpPr>
            <a:xfrm>
              <a:off x="8833104" y="5111496"/>
              <a:ext cx="3054096" cy="237744"/>
              <a:chOff x="8833104" y="5111496"/>
              <a:chExt cx="3054096" cy="237744"/>
            </a:xfrm>
          </p:grpSpPr>
          <p:sp>
            <p:nvSpPr>
              <p:cNvPr id="83" name="Shape 66"/>
              <p:cNvSpPr/>
              <p:nvPr/>
            </p:nvSpPr>
            <p:spPr>
              <a:xfrm>
                <a:off x="8833104" y="5175504"/>
                <a:ext cx="109728" cy="109728"/>
              </a:xfrm>
              <a:prstGeom prst="ellipse">
                <a:avLst/>
              </a:prstGeom>
              <a:solidFill>
                <a:srgbClr val="00528E"/>
              </a:solidFill>
              <a:ln/>
            </p:spPr>
          </p:sp>
          <p:sp>
            <p:nvSpPr>
              <p:cNvPr id="84" name="Text 67"/>
              <p:cNvSpPr/>
              <p:nvPr/>
            </p:nvSpPr>
            <p:spPr>
              <a:xfrm>
                <a:off x="9006840" y="5111496"/>
                <a:ext cx="2880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00528E"/>
                    </a:solidFill>
                  </a:rPr>
                  <a:t>43%  </a:t>
                </a:r>
                <a:r>
                  <a:rPr lang="en-US" sz="1200" dirty="0">
                    <a:solidFill>
                      <a:srgbClr val="1A2733"/>
                    </a:solidFill>
                  </a:rPr>
                  <a:t>Building &amp; construction</a:t>
                </a:r>
                <a:endParaRPr lang="en-US" sz="1200" dirty="0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355B7565-7FDB-8BCD-1CDD-A3AABB4F4C97}"/>
                </a:ext>
              </a:extLst>
            </p:cNvPr>
            <p:cNvGrpSpPr/>
            <p:nvPr/>
          </p:nvGrpSpPr>
          <p:grpSpPr>
            <a:xfrm>
              <a:off x="8833104" y="5372505"/>
              <a:ext cx="3054096" cy="237744"/>
              <a:chOff x="8833104" y="5344668"/>
              <a:chExt cx="3054096" cy="237744"/>
            </a:xfrm>
          </p:grpSpPr>
          <p:sp>
            <p:nvSpPr>
              <p:cNvPr id="85" name="Shape 68"/>
              <p:cNvSpPr/>
              <p:nvPr/>
            </p:nvSpPr>
            <p:spPr>
              <a:xfrm>
                <a:off x="8833104" y="5408676"/>
                <a:ext cx="109728" cy="109728"/>
              </a:xfrm>
              <a:prstGeom prst="ellipse">
                <a:avLst/>
              </a:prstGeom>
              <a:solidFill>
                <a:srgbClr val="0071C1"/>
              </a:solidFill>
              <a:ln/>
            </p:spPr>
          </p:sp>
          <p:sp>
            <p:nvSpPr>
              <p:cNvPr id="86" name="Text 69"/>
              <p:cNvSpPr/>
              <p:nvPr/>
            </p:nvSpPr>
            <p:spPr>
              <a:xfrm>
                <a:off x="9006840" y="5344668"/>
                <a:ext cx="2880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00528E"/>
                    </a:solidFill>
                  </a:rPr>
                  <a:t>25%  </a:t>
                </a:r>
                <a:r>
                  <a:rPr lang="en-US" sz="1200" dirty="0">
                    <a:solidFill>
                      <a:srgbClr val="1A2733"/>
                    </a:solidFill>
                  </a:rPr>
                  <a:t>Infrastructure</a:t>
                </a:r>
                <a:endParaRPr lang="en-US" sz="1200" dirty="0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CF6A3B47-7EE1-364D-3AEC-5C3F402C02C5}"/>
                </a:ext>
              </a:extLst>
            </p:cNvPr>
            <p:cNvGrpSpPr/>
            <p:nvPr/>
          </p:nvGrpSpPr>
          <p:grpSpPr>
            <a:xfrm>
              <a:off x="8833104" y="5633514"/>
              <a:ext cx="3054096" cy="237744"/>
              <a:chOff x="8833104" y="5577840"/>
              <a:chExt cx="3054096" cy="237744"/>
            </a:xfrm>
          </p:grpSpPr>
          <p:sp>
            <p:nvSpPr>
              <p:cNvPr id="87" name="Shape 70"/>
              <p:cNvSpPr/>
              <p:nvPr/>
            </p:nvSpPr>
            <p:spPr>
              <a:xfrm>
                <a:off x="8833104" y="5641848"/>
                <a:ext cx="109728" cy="109728"/>
              </a:xfrm>
              <a:prstGeom prst="ellipse">
                <a:avLst/>
              </a:prstGeom>
              <a:solidFill>
                <a:srgbClr val="7FB6E0"/>
              </a:solidFill>
              <a:ln/>
            </p:spPr>
          </p:sp>
          <p:sp>
            <p:nvSpPr>
              <p:cNvPr id="88" name="Text 71"/>
              <p:cNvSpPr/>
              <p:nvPr/>
            </p:nvSpPr>
            <p:spPr>
              <a:xfrm>
                <a:off x="9006840" y="5577840"/>
                <a:ext cx="2880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00528E"/>
                    </a:solidFill>
                  </a:rPr>
                  <a:t>22%  </a:t>
                </a:r>
                <a:r>
                  <a:rPr lang="en-US" sz="1200" dirty="0">
                    <a:solidFill>
                      <a:srgbClr val="1A2733"/>
                    </a:solidFill>
                  </a:rPr>
                  <a:t>Engineering &amp; packaging</a:t>
                </a:r>
                <a:endParaRPr lang="en-US" sz="1200" dirty="0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4EE772F0-1B48-EEE8-74CD-2C30A86BC37A}"/>
                </a:ext>
              </a:extLst>
            </p:cNvPr>
            <p:cNvGrpSpPr/>
            <p:nvPr/>
          </p:nvGrpSpPr>
          <p:grpSpPr>
            <a:xfrm>
              <a:off x="8833104" y="5894523"/>
              <a:ext cx="3054096" cy="237744"/>
              <a:chOff x="8833104" y="5811012"/>
              <a:chExt cx="3054096" cy="237744"/>
            </a:xfrm>
          </p:grpSpPr>
          <p:sp>
            <p:nvSpPr>
              <p:cNvPr id="89" name="Shape 72"/>
              <p:cNvSpPr/>
              <p:nvPr/>
            </p:nvSpPr>
            <p:spPr>
              <a:xfrm>
                <a:off x="8833104" y="5875020"/>
                <a:ext cx="109728" cy="109728"/>
              </a:xfrm>
              <a:prstGeom prst="ellipse">
                <a:avLst/>
              </a:prstGeom>
              <a:solidFill>
                <a:srgbClr val="F5A300"/>
              </a:solidFill>
              <a:ln/>
            </p:spPr>
          </p:sp>
          <p:sp>
            <p:nvSpPr>
              <p:cNvPr id="90" name="Text 73"/>
              <p:cNvSpPr/>
              <p:nvPr/>
            </p:nvSpPr>
            <p:spPr>
              <a:xfrm>
                <a:off x="9006840" y="5811012"/>
                <a:ext cx="2880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00528E"/>
                    </a:solidFill>
                  </a:rPr>
                  <a:t>9%  </a:t>
                </a:r>
                <a:r>
                  <a:rPr lang="en-US" sz="1200" dirty="0">
                    <a:solidFill>
                      <a:srgbClr val="1A2733"/>
                    </a:solidFill>
                  </a:rPr>
                  <a:t>Automotive</a:t>
                </a:r>
                <a:endParaRPr lang="en-US" sz="1200" dirty="0"/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72C231D-A4BC-2023-E3A3-A2638395AB8D}"/>
                </a:ext>
              </a:extLst>
            </p:cNvPr>
            <p:cNvGrpSpPr/>
            <p:nvPr/>
          </p:nvGrpSpPr>
          <p:grpSpPr>
            <a:xfrm>
              <a:off x="8833104" y="6155531"/>
              <a:ext cx="3054096" cy="237744"/>
              <a:chOff x="8833104" y="6044184"/>
              <a:chExt cx="3054096" cy="237744"/>
            </a:xfrm>
          </p:grpSpPr>
          <p:sp>
            <p:nvSpPr>
              <p:cNvPr id="91" name="Shape 74"/>
              <p:cNvSpPr/>
              <p:nvPr/>
            </p:nvSpPr>
            <p:spPr>
              <a:xfrm>
                <a:off x="8833104" y="6108192"/>
                <a:ext cx="109728" cy="109728"/>
              </a:xfrm>
              <a:prstGeom prst="ellipse">
                <a:avLst/>
              </a:prstGeom>
              <a:solidFill>
                <a:srgbClr val="C9D9E6"/>
              </a:solidFill>
              <a:ln/>
            </p:spPr>
          </p:sp>
          <p:sp>
            <p:nvSpPr>
              <p:cNvPr id="92" name="Text 75"/>
              <p:cNvSpPr/>
              <p:nvPr/>
            </p:nvSpPr>
            <p:spPr>
              <a:xfrm>
                <a:off x="9006840" y="6044184"/>
                <a:ext cx="28803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00528E"/>
                    </a:solidFill>
                  </a:rPr>
                  <a:t>1%  </a:t>
                </a:r>
                <a:r>
                  <a:rPr lang="en-US" sz="1200" dirty="0">
                    <a:solidFill>
                      <a:srgbClr val="1A2733"/>
                    </a:solidFill>
                  </a:rPr>
                  <a:t>Defence</a:t>
                </a:r>
                <a:endParaRPr lang="en-US" sz="1200" dirty="0"/>
              </a:p>
            </p:txBody>
          </p:sp>
        </p:grpSp>
      </p:grpSp>
      <p:sp>
        <p:nvSpPr>
          <p:cNvPr id="93" name="Text 76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Ministry of Steel / JPC, World Steel Association, IBEF, Tata Steel ABP. Sector split per India finished-steel consumption.</a:t>
            </a:r>
            <a:endParaRPr lang="en-US" sz="750" dirty="0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3A756E8F-3C44-BD9D-7DA0-3384CFD97BB2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00528E"/>
          </a:solidFill>
          <a:ln w="12700">
            <a:solidFill>
              <a:srgbClr val="0052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the Steelmaking Supply Chain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274320" y="1078992"/>
            <a:ext cx="1165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iron ore, coking coal and fluxes to hot-rolled coil — HRC is the flat-product, and its cost is set upstream.</a:t>
            </a:r>
            <a:endParaRPr lang="en-US" sz="1150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7F9907A-43E3-3DE5-0807-A745BFEB2C78}"/>
              </a:ext>
            </a:extLst>
          </p:cNvPr>
          <p:cNvGrpSpPr/>
          <p:nvPr/>
        </p:nvGrpSpPr>
        <p:grpSpPr>
          <a:xfrm>
            <a:off x="274320" y="1481328"/>
            <a:ext cx="3028950" cy="603504"/>
            <a:chOff x="274320" y="1481328"/>
            <a:chExt cx="3028950" cy="603504"/>
          </a:xfrm>
        </p:grpSpPr>
        <p:sp>
          <p:nvSpPr>
            <p:cNvPr id="19" name="Shape 17"/>
            <p:cNvSpPr/>
            <p:nvPr/>
          </p:nvSpPr>
          <p:spPr>
            <a:xfrm>
              <a:off x="274320" y="1481328"/>
              <a:ext cx="3028950" cy="603504"/>
            </a:xfrm>
            <a:prstGeom prst="chevron">
              <a:avLst/>
            </a:prstGeom>
            <a:solidFill>
              <a:srgbClr val="0071C1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749808" y="1481328"/>
              <a:ext cx="229743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RAW MATERIALS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000" dirty="0">
                  <a:solidFill>
                    <a:srgbClr val="DCEBF7"/>
                  </a:solidFill>
                </a:rPr>
                <a:t>Iron ore · coking coal · fluxes</a:t>
              </a:r>
              <a:endParaRPr lang="en-US" sz="1000" dirty="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3B47A96-EA27-683D-7B06-EF1FC9825EDD}"/>
              </a:ext>
            </a:extLst>
          </p:cNvPr>
          <p:cNvGrpSpPr/>
          <p:nvPr/>
        </p:nvGrpSpPr>
        <p:grpSpPr>
          <a:xfrm>
            <a:off x="3138678" y="1481328"/>
            <a:ext cx="3028950" cy="603504"/>
            <a:chOff x="3138678" y="1481328"/>
            <a:chExt cx="3028950" cy="603504"/>
          </a:xfrm>
        </p:grpSpPr>
        <p:sp>
          <p:nvSpPr>
            <p:cNvPr id="21" name="Shape 19"/>
            <p:cNvSpPr/>
            <p:nvPr/>
          </p:nvSpPr>
          <p:spPr>
            <a:xfrm>
              <a:off x="3138678" y="1481328"/>
              <a:ext cx="3028950" cy="603504"/>
            </a:xfrm>
            <a:prstGeom prst="chevron">
              <a:avLst/>
            </a:prstGeom>
            <a:solidFill>
              <a:srgbClr val="00528E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3614166" y="1481328"/>
              <a:ext cx="229743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IRON MAKING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000" dirty="0">
                  <a:solidFill>
                    <a:srgbClr val="DCEBF7"/>
                  </a:solidFill>
                </a:rPr>
                <a:t>Sinter · coke · blast furnace → hot metal</a:t>
              </a:r>
              <a:endParaRPr lang="en-US" sz="1000"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5DBDA11-01B0-7073-AD33-055DD3B3C5A7}"/>
              </a:ext>
            </a:extLst>
          </p:cNvPr>
          <p:cNvGrpSpPr/>
          <p:nvPr/>
        </p:nvGrpSpPr>
        <p:grpSpPr>
          <a:xfrm>
            <a:off x="6003036" y="1481328"/>
            <a:ext cx="3028950" cy="603504"/>
            <a:chOff x="6003036" y="1481328"/>
            <a:chExt cx="3028950" cy="603504"/>
          </a:xfrm>
        </p:grpSpPr>
        <p:sp>
          <p:nvSpPr>
            <p:cNvPr id="23" name="Shape 21"/>
            <p:cNvSpPr/>
            <p:nvPr/>
          </p:nvSpPr>
          <p:spPr>
            <a:xfrm>
              <a:off x="6003036" y="1481328"/>
              <a:ext cx="3028950" cy="603504"/>
            </a:xfrm>
            <a:prstGeom prst="chevron">
              <a:avLst/>
            </a:prstGeom>
            <a:solidFill>
              <a:srgbClr val="0071C1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478524" y="1481328"/>
              <a:ext cx="229743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STEEL MAKING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000" dirty="0">
                  <a:solidFill>
                    <a:srgbClr val="DCEBF7"/>
                  </a:solidFill>
                </a:rPr>
                <a:t>BOF / steel melting shop → cast slabs</a:t>
              </a:r>
              <a:endParaRPr lang="en-US" sz="1000" dirty="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9D98BC3-9259-FCB6-66E2-6EF0097E47F0}"/>
              </a:ext>
            </a:extLst>
          </p:cNvPr>
          <p:cNvGrpSpPr/>
          <p:nvPr/>
        </p:nvGrpSpPr>
        <p:grpSpPr>
          <a:xfrm>
            <a:off x="8867394" y="1481328"/>
            <a:ext cx="3028950" cy="603504"/>
            <a:chOff x="8867394" y="1481328"/>
            <a:chExt cx="3028950" cy="603504"/>
          </a:xfrm>
        </p:grpSpPr>
        <p:sp>
          <p:nvSpPr>
            <p:cNvPr id="25" name="Shape 23"/>
            <p:cNvSpPr/>
            <p:nvPr/>
          </p:nvSpPr>
          <p:spPr>
            <a:xfrm>
              <a:off x="8867394" y="1481328"/>
              <a:ext cx="3028950" cy="603504"/>
            </a:xfrm>
            <a:prstGeom prst="chevron">
              <a:avLst/>
            </a:prstGeom>
            <a:solidFill>
              <a:srgbClr val="00528E"/>
            </a:solidFill>
            <a:ln w="19050">
              <a:solidFill>
                <a:srgbClr val="FFFFFF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9342882" y="1481328"/>
              <a:ext cx="229743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HOT ROLLING &amp; DISPATCH</a:t>
              </a:r>
              <a:endParaRPr lang="en-US" sz="1200" dirty="0"/>
            </a:p>
            <a:p>
              <a:pPr marL="0" indent="0" algn="l">
                <a:buNone/>
              </a:pPr>
              <a:r>
                <a:rPr lang="en-US" sz="1000" dirty="0">
                  <a:solidFill>
                    <a:srgbClr val="DCEBF7"/>
                  </a:solidFill>
                </a:rPr>
                <a:t>Hot strip mill → HR coil → customer</a:t>
              </a:r>
              <a:endParaRPr lang="en-US" sz="1000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33F684D-9729-138A-003E-5D031749CBF2}"/>
              </a:ext>
            </a:extLst>
          </p:cNvPr>
          <p:cNvGrpSpPr/>
          <p:nvPr/>
        </p:nvGrpSpPr>
        <p:grpSpPr>
          <a:xfrm>
            <a:off x="274320" y="2304288"/>
            <a:ext cx="7964424" cy="2395728"/>
            <a:chOff x="274320" y="2304288"/>
            <a:chExt cx="7964424" cy="2395728"/>
          </a:xfrm>
        </p:grpSpPr>
        <p:sp>
          <p:nvSpPr>
            <p:cNvPr id="27" name="Shape 25"/>
            <p:cNvSpPr/>
            <p:nvPr/>
          </p:nvSpPr>
          <p:spPr>
            <a:xfrm>
              <a:off x="274320" y="2304288"/>
              <a:ext cx="7818120" cy="2395728"/>
            </a:xfrm>
            <a:prstGeom prst="roundRect">
              <a:avLst>
                <a:gd name="adj" fmla="val 1908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8" name="Shape 26"/>
            <p:cNvSpPr/>
            <p:nvPr/>
          </p:nvSpPr>
          <p:spPr>
            <a:xfrm>
              <a:off x="274320" y="2304288"/>
              <a:ext cx="781812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29" name="Shape 27"/>
            <p:cNvSpPr/>
            <p:nvPr/>
          </p:nvSpPr>
          <p:spPr>
            <a:xfrm>
              <a:off x="274320" y="2468880"/>
              <a:ext cx="781812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274320" y="2304288"/>
              <a:ext cx="78181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Process flow — Tata Steel Kalinganagar (TSK)</a:t>
              </a:r>
              <a:endParaRPr lang="en-US" sz="1100" dirty="0"/>
            </a:p>
          </p:txBody>
        </p:sp>
        <p:pic>
          <p:nvPicPr>
            <p:cNvPr id="31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2761488"/>
              <a:ext cx="310896" cy="310896"/>
            </a:xfrm>
            <a:prstGeom prst="rect">
              <a:avLst/>
            </a:prstGeom>
          </p:spPr>
        </p:pic>
        <p:sp>
          <p:nvSpPr>
            <p:cNvPr id="32" name="Text 29"/>
            <p:cNvSpPr/>
            <p:nvPr/>
          </p:nvSpPr>
          <p:spPr>
            <a:xfrm>
              <a:off x="841248" y="2734056"/>
              <a:ext cx="2240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733"/>
                  </a:solidFill>
                </a:rPr>
                <a:t>Iron ore &amp; fines  </a:t>
              </a:r>
              <a:r>
                <a:rPr lang="en-US" sz="1000" dirty="0">
                  <a:solidFill>
                    <a:srgbClr val="5B6770"/>
                  </a:solidFill>
                </a:rPr>
                <a:t>(Domestic)</a:t>
              </a:r>
              <a:endParaRPr lang="en-US" sz="1000" dirty="0"/>
            </a:p>
          </p:txBody>
        </p:sp>
        <p:pic>
          <p:nvPicPr>
            <p:cNvPr id="3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3218688"/>
              <a:ext cx="310896" cy="310896"/>
            </a:xfrm>
            <a:prstGeom prst="rect">
              <a:avLst/>
            </a:prstGeom>
          </p:spPr>
        </p:pic>
        <p:sp>
          <p:nvSpPr>
            <p:cNvPr id="34" name="Text 30"/>
            <p:cNvSpPr/>
            <p:nvPr/>
          </p:nvSpPr>
          <p:spPr>
            <a:xfrm>
              <a:off x="841248" y="3191256"/>
              <a:ext cx="2240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733"/>
                  </a:solidFill>
                </a:rPr>
                <a:t>Coking coal  </a:t>
              </a:r>
              <a:r>
                <a:rPr lang="en-US" sz="1000" dirty="0">
                  <a:solidFill>
                    <a:srgbClr val="5B6770"/>
                  </a:solidFill>
                </a:rPr>
                <a:t>(Domestic / ~85% imported)</a:t>
              </a:r>
              <a:endParaRPr lang="en-US" sz="1000" dirty="0"/>
            </a:p>
          </p:txBody>
        </p:sp>
        <p:pic>
          <p:nvPicPr>
            <p:cNvPr id="35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200" y="3675888"/>
              <a:ext cx="310896" cy="310896"/>
            </a:xfrm>
            <a:prstGeom prst="rect">
              <a:avLst/>
            </a:prstGeom>
          </p:spPr>
        </p:pic>
        <p:sp>
          <p:nvSpPr>
            <p:cNvPr id="36" name="Text 31"/>
            <p:cNvSpPr/>
            <p:nvPr/>
          </p:nvSpPr>
          <p:spPr>
            <a:xfrm>
              <a:off x="841248" y="3648456"/>
              <a:ext cx="22402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733"/>
                  </a:solidFill>
                </a:rPr>
                <a:t>Fluxes (lime)  </a:t>
              </a:r>
              <a:r>
                <a:rPr lang="en-US" sz="1000" dirty="0">
                  <a:solidFill>
                    <a:srgbClr val="5B6770"/>
                  </a:solidFill>
                </a:rPr>
                <a:t>(Domestic / imported)</a:t>
              </a:r>
              <a:endParaRPr lang="en-US" sz="1000" dirty="0"/>
            </a:p>
          </p:txBody>
        </p:sp>
        <p:sp>
          <p:nvSpPr>
            <p:cNvPr id="37" name="Shape 32"/>
            <p:cNvSpPr/>
            <p:nvPr/>
          </p:nvSpPr>
          <p:spPr>
            <a:xfrm>
              <a:off x="3154680" y="2761488"/>
              <a:ext cx="868680" cy="1225296"/>
            </a:xfrm>
            <a:prstGeom prst="roundRect">
              <a:avLst>
                <a:gd name="adj" fmla="val 5263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</p:spPr>
        </p:sp>
        <p:sp>
          <p:nvSpPr>
            <p:cNvPr id="38" name="Text 33"/>
            <p:cNvSpPr/>
            <p:nvPr/>
          </p:nvSpPr>
          <p:spPr>
            <a:xfrm>
              <a:off x="3154680" y="2761488"/>
              <a:ext cx="868680" cy="1225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Material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Stockyard</a:t>
              </a:r>
              <a:endParaRPr lang="en-US" sz="1000" dirty="0"/>
            </a:p>
          </p:txBody>
        </p:sp>
        <p:sp>
          <p:nvSpPr>
            <p:cNvPr id="39" name="Shape 34"/>
            <p:cNvSpPr/>
            <p:nvPr/>
          </p:nvSpPr>
          <p:spPr>
            <a:xfrm>
              <a:off x="4023360" y="3374136"/>
              <a:ext cx="228600" cy="0"/>
            </a:xfrm>
            <a:prstGeom prst="line">
              <a:avLst/>
            </a:prstGeom>
            <a:noFill/>
            <a:ln w="19050">
              <a:solidFill>
                <a:srgbClr val="0071C1"/>
              </a:solidFill>
              <a:prstDash val="solid"/>
              <a:tailEnd type="triangle"/>
            </a:ln>
          </p:spPr>
        </p:sp>
        <p:sp>
          <p:nvSpPr>
            <p:cNvPr id="40" name="Shape 35"/>
            <p:cNvSpPr/>
            <p:nvPr/>
          </p:nvSpPr>
          <p:spPr>
            <a:xfrm>
              <a:off x="4297680" y="2926080"/>
              <a:ext cx="960120" cy="86868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6510">
              <a:solidFill>
                <a:srgbClr val="0071C1"/>
              </a:solidFill>
              <a:prstDash val="solid"/>
            </a:ln>
          </p:spPr>
        </p:sp>
        <p:pic>
          <p:nvPicPr>
            <p:cNvPr id="41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63440" y="3017520"/>
              <a:ext cx="237744" cy="237744"/>
            </a:xfrm>
            <a:prstGeom prst="rect">
              <a:avLst/>
            </a:prstGeom>
          </p:spPr>
        </p:pic>
        <p:sp>
          <p:nvSpPr>
            <p:cNvPr id="42" name="Text 36"/>
            <p:cNvSpPr/>
            <p:nvPr/>
          </p:nvSpPr>
          <p:spPr>
            <a:xfrm>
              <a:off x="4297680" y="3385896"/>
              <a:ext cx="9601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Blast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Furnace</a:t>
              </a:r>
              <a:endParaRPr lang="en-US" sz="1000" dirty="0"/>
            </a:p>
          </p:txBody>
        </p:sp>
        <p:sp>
          <p:nvSpPr>
            <p:cNvPr id="43" name="Shape 37"/>
            <p:cNvSpPr/>
            <p:nvPr/>
          </p:nvSpPr>
          <p:spPr>
            <a:xfrm>
              <a:off x="5257800" y="3355848"/>
              <a:ext cx="246888" cy="0"/>
            </a:xfrm>
            <a:prstGeom prst="line">
              <a:avLst/>
            </a:prstGeom>
            <a:noFill/>
            <a:ln w="19050">
              <a:solidFill>
                <a:srgbClr val="0071C1"/>
              </a:solidFill>
              <a:prstDash val="solid"/>
              <a:tailEnd type="triangle"/>
            </a:ln>
          </p:spPr>
        </p:sp>
        <p:sp>
          <p:nvSpPr>
            <p:cNvPr id="44" name="Shape 38"/>
            <p:cNvSpPr/>
            <p:nvPr/>
          </p:nvSpPr>
          <p:spPr>
            <a:xfrm>
              <a:off x="5504688" y="2926080"/>
              <a:ext cx="960120" cy="86868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6510">
              <a:solidFill>
                <a:srgbClr val="0071C1"/>
              </a:solidFill>
              <a:prstDash val="solid"/>
            </a:ln>
          </p:spPr>
        </p:sp>
        <p:pic>
          <p:nvPicPr>
            <p:cNvPr id="45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70448" y="3017520"/>
              <a:ext cx="237744" cy="237744"/>
            </a:xfrm>
            <a:prstGeom prst="rect">
              <a:avLst/>
            </a:prstGeom>
          </p:spPr>
        </p:pic>
        <p:sp>
          <p:nvSpPr>
            <p:cNvPr id="46" name="Text 39"/>
            <p:cNvSpPr/>
            <p:nvPr/>
          </p:nvSpPr>
          <p:spPr>
            <a:xfrm>
              <a:off x="5504688" y="3385896"/>
              <a:ext cx="9601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Steel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Melting</a:t>
              </a:r>
              <a:endParaRPr lang="en-US" sz="1000" dirty="0"/>
            </a:p>
          </p:txBody>
        </p:sp>
        <p:sp>
          <p:nvSpPr>
            <p:cNvPr id="47" name="Shape 40"/>
            <p:cNvSpPr/>
            <p:nvPr/>
          </p:nvSpPr>
          <p:spPr>
            <a:xfrm>
              <a:off x="6464808" y="3355848"/>
              <a:ext cx="246888" cy="0"/>
            </a:xfrm>
            <a:prstGeom prst="line">
              <a:avLst/>
            </a:prstGeom>
            <a:noFill/>
            <a:ln w="19050">
              <a:solidFill>
                <a:srgbClr val="0071C1"/>
              </a:solidFill>
              <a:prstDash val="solid"/>
              <a:tailEnd type="triangle"/>
            </a:ln>
          </p:spPr>
        </p:sp>
        <p:sp>
          <p:nvSpPr>
            <p:cNvPr id="48" name="Shape 41"/>
            <p:cNvSpPr/>
            <p:nvPr/>
          </p:nvSpPr>
          <p:spPr>
            <a:xfrm>
              <a:off x="6711696" y="2926080"/>
              <a:ext cx="960120" cy="86868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6510">
              <a:solidFill>
                <a:srgbClr val="0071C1"/>
              </a:solidFill>
              <a:prstDash val="solid"/>
            </a:ln>
          </p:spPr>
        </p:sp>
        <p:pic>
          <p:nvPicPr>
            <p:cNvPr id="49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77456" y="3017520"/>
              <a:ext cx="237744" cy="237744"/>
            </a:xfrm>
            <a:prstGeom prst="rect">
              <a:avLst/>
            </a:prstGeom>
          </p:spPr>
        </p:pic>
        <p:sp>
          <p:nvSpPr>
            <p:cNvPr id="50" name="Text 42"/>
            <p:cNvSpPr/>
            <p:nvPr/>
          </p:nvSpPr>
          <p:spPr>
            <a:xfrm>
              <a:off x="6711696" y="3385896"/>
              <a:ext cx="9601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Hot Strip</a:t>
              </a:r>
              <a:endParaRPr lang="en-US" sz="1000" dirty="0"/>
            </a:p>
            <a:p>
              <a:pPr marL="0" indent="0" algn="ctr">
                <a:buNone/>
              </a:pPr>
              <a:r>
                <a:rPr lang="en-US" sz="1000" b="1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Mill</a:t>
              </a:r>
              <a:endParaRPr lang="en-US" sz="1000" dirty="0"/>
            </a:p>
          </p:txBody>
        </p:sp>
        <p:sp>
          <p:nvSpPr>
            <p:cNvPr id="51" name="Text 43"/>
            <p:cNvSpPr/>
            <p:nvPr/>
          </p:nvSpPr>
          <p:spPr>
            <a:xfrm>
              <a:off x="5367528" y="2779776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5B67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Hot metal</a:t>
              </a:r>
              <a:endParaRPr lang="en-US" sz="1000" dirty="0"/>
            </a:p>
          </p:txBody>
        </p:sp>
        <p:sp>
          <p:nvSpPr>
            <p:cNvPr id="52" name="Text 44"/>
            <p:cNvSpPr/>
            <p:nvPr/>
          </p:nvSpPr>
          <p:spPr>
            <a:xfrm>
              <a:off x="6450178" y="2779776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5B67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Slabs</a:t>
              </a:r>
              <a:endParaRPr lang="en-US" sz="1000" dirty="0"/>
            </a:p>
          </p:txBody>
        </p:sp>
        <p:sp>
          <p:nvSpPr>
            <p:cNvPr id="53" name="Shape 45"/>
            <p:cNvSpPr/>
            <p:nvPr/>
          </p:nvSpPr>
          <p:spPr>
            <a:xfrm>
              <a:off x="7653528" y="3355848"/>
              <a:ext cx="201168" cy="0"/>
            </a:xfrm>
            <a:prstGeom prst="line">
              <a:avLst/>
            </a:prstGeom>
            <a:noFill/>
            <a:ln w="25400">
              <a:solidFill>
                <a:srgbClr val="F5A300"/>
              </a:solidFill>
              <a:prstDash val="solid"/>
              <a:tailEnd type="triangle"/>
            </a:ln>
          </p:spPr>
        </p:sp>
        <p:sp>
          <p:nvSpPr>
            <p:cNvPr id="54" name="Text 46"/>
            <p:cNvSpPr/>
            <p:nvPr/>
          </p:nvSpPr>
          <p:spPr>
            <a:xfrm>
              <a:off x="7324344" y="3822192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5A3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HR Coil</a:t>
              </a:r>
              <a:endParaRPr lang="en-US" sz="1000" dirty="0"/>
            </a:p>
          </p:txBody>
        </p:sp>
        <p:sp>
          <p:nvSpPr>
            <p:cNvPr id="55" name="Shape 47"/>
            <p:cNvSpPr/>
            <p:nvPr/>
          </p:nvSpPr>
          <p:spPr>
            <a:xfrm>
              <a:off x="457200" y="4187952"/>
              <a:ext cx="7452360" cy="384048"/>
            </a:xfrm>
            <a:prstGeom prst="roundRect">
              <a:avLst>
                <a:gd name="adj" fmla="val 11905"/>
              </a:avLst>
            </a:prstGeom>
            <a:solidFill>
              <a:srgbClr val="F4F8FC"/>
            </a:solidFill>
            <a:ln/>
          </p:spPr>
        </p:sp>
        <p:sp>
          <p:nvSpPr>
            <p:cNvPr id="56" name="Text 48"/>
            <p:cNvSpPr/>
            <p:nvPr/>
          </p:nvSpPr>
          <p:spPr>
            <a:xfrm>
              <a:off x="603504" y="4187952"/>
              <a:ext cx="715975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Inbound raw materials are planned, sourced (own mines, domestic suppliers, imports via ports) and converted stage-by-stage; HRC is the direct-dispatch flat output of the hot strip mill.</a:t>
              </a:r>
              <a:endParaRPr lang="en-US" sz="1000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E749686-187A-3DBB-044A-DA4E7895624B}"/>
              </a:ext>
            </a:extLst>
          </p:cNvPr>
          <p:cNvGrpSpPr/>
          <p:nvPr/>
        </p:nvGrpSpPr>
        <p:grpSpPr>
          <a:xfrm>
            <a:off x="8321040" y="2304288"/>
            <a:ext cx="3611880" cy="2395728"/>
            <a:chOff x="8321040" y="2304288"/>
            <a:chExt cx="3611880" cy="2395728"/>
          </a:xfrm>
        </p:grpSpPr>
        <p:sp>
          <p:nvSpPr>
            <p:cNvPr id="57" name="Shape 49"/>
            <p:cNvSpPr/>
            <p:nvPr/>
          </p:nvSpPr>
          <p:spPr>
            <a:xfrm>
              <a:off x="8321040" y="2304288"/>
              <a:ext cx="3611880" cy="2395728"/>
            </a:xfrm>
            <a:prstGeom prst="roundRect">
              <a:avLst>
                <a:gd name="adj" fmla="val 1908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8" name="Shape 50"/>
            <p:cNvSpPr/>
            <p:nvPr/>
          </p:nvSpPr>
          <p:spPr>
            <a:xfrm>
              <a:off x="8321040" y="2304288"/>
              <a:ext cx="361188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59" name="Shape 51"/>
            <p:cNvSpPr/>
            <p:nvPr/>
          </p:nvSpPr>
          <p:spPr>
            <a:xfrm>
              <a:off x="8321040" y="2468880"/>
              <a:ext cx="361188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60" name="Text 52"/>
            <p:cNvSpPr/>
            <p:nvPr/>
          </p:nvSpPr>
          <p:spPr>
            <a:xfrm>
              <a:off x="8321040" y="2304288"/>
              <a:ext cx="36118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HRC costs to make</a:t>
              </a:r>
              <a:endParaRPr lang="en-US" sz="1100" dirty="0"/>
            </a:p>
          </p:txBody>
        </p:sp>
        <p:sp>
          <p:nvSpPr>
            <p:cNvPr id="61" name="Text 53"/>
            <p:cNvSpPr/>
            <p:nvPr/>
          </p:nvSpPr>
          <p:spPr>
            <a:xfrm>
              <a:off x="8485632" y="2724912"/>
              <a:ext cx="328269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selling price of HRC is anchored to its two big raw-material inputs:</a:t>
              </a:r>
              <a:endParaRPr lang="en-US" sz="1000" dirty="0"/>
            </a:p>
          </p:txBody>
        </p:sp>
        <p:sp>
          <p:nvSpPr>
            <p:cNvPr id="62" name="Shape 54"/>
            <p:cNvSpPr/>
            <p:nvPr/>
          </p:nvSpPr>
          <p:spPr>
            <a:xfrm>
              <a:off x="8485632" y="3218688"/>
              <a:ext cx="3282696" cy="566928"/>
            </a:xfrm>
            <a:prstGeom prst="roundRect">
              <a:avLst>
                <a:gd name="adj" fmla="val 8065"/>
              </a:avLst>
            </a:prstGeom>
            <a:solidFill>
              <a:srgbClr val="00528E"/>
            </a:solidFill>
            <a:ln/>
          </p:spPr>
        </p:sp>
        <p:sp>
          <p:nvSpPr>
            <p:cNvPr id="63" name="Text 55"/>
            <p:cNvSpPr/>
            <p:nvPr/>
          </p:nvSpPr>
          <p:spPr>
            <a:xfrm>
              <a:off x="8485632" y="3218688"/>
              <a:ext cx="328269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F5A3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1.6</a:t>
              </a:r>
              <a:r>
                <a:rPr lang="en-US" sz="12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× Iron Ore  +  </a:t>
              </a:r>
              <a:r>
                <a:rPr lang="en-US" sz="1250" b="1" dirty="0">
                  <a:solidFill>
                    <a:srgbClr val="F5A3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0.9</a:t>
              </a:r>
              <a:r>
                <a:rPr lang="en-US" sz="12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× Coking Coal</a:t>
              </a:r>
              <a:endParaRPr lang="en-US" sz="1250" dirty="0"/>
            </a:p>
          </p:txBody>
        </p:sp>
        <p:sp>
          <p:nvSpPr>
            <p:cNvPr id="64" name="Text 56"/>
            <p:cNvSpPr/>
            <p:nvPr/>
          </p:nvSpPr>
          <p:spPr>
            <a:xfrm>
              <a:off x="8485632" y="3877056"/>
              <a:ext cx="3282696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≈ 76% of the HRC selling price is raw material,  so it’s cost leads the price story.</a:t>
              </a:r>
              <a:endParaRPr lang="en-US" sz="100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6A113C4-971B-CE56-B5E3-F4CED6191297}"/>
              </a:ext>
            </a:extLst>
          </p:cNvPr>
          <p:cNvGrpSpPr/>
          <p:nvPr/>
        </p:nvGrpSpPr>
        <p:grpSpPr>
          <a:xfrm>
            <a:off x="274320" y="4846320"/>
            <a:ext cx="11658600" cy="1481328"/>
            <a:chOff x="274320" y="4846320"/>
            <a:chExt cx="11658600" cy="1481328"/>
          </a:xfrm>
        </p:grpSpPr>
        <p:sp>
          <p:nvSpPr>
            <p:cNvPr id="65" name="Shape 57"/>
            <p:cNvSpPr/>
            <p:nvPr/>
          </p:nvSpPr>
          <p:spPr>
            <a:xfrm>
              <a:off x="274320" y="4846320"/>
              <a:ext cx="11658600" cy="1481328"/>
            </a:xfrm>
            <a:prstGeom prst="roundRect">
              <a:avLst>
                <a:gd name="adj" fmla="val 3086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6" name="Shape 58"/>
            <p:cNvSpPr/>
            <p:nvPr/>
          </p:nvSpPr>
          <p:spPr>
            <a:xfrm>
              <a:off x="274320" y="4846320"/>
              <a:ext cx="1165860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67" name="Shape 59"/>
            <p:cNvSpPr/>
            <p:nvPr/>
          </p:nvSpPr>
          <p:spPr>
            <a:xfrm>
              <a:off x="274320" y="5010912"/>
              <a:ext cx="1165860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68" name="Text 60"/>
            <p:cNvSpPr/>
            <p:nvPr/>
          </p:nvSpPr>
          <p:spPr>
            <a:xfrm>
              <a:off x="274320" y="4846320"/>
              <a:ext cx="11658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Dispatch &amp; distribution footprint</a:t>
              </a:r>
              <a:endParaRPr lang="en-US" sz="1100" dirty="0"/>
            </a:p>
          </p:txBody>
        </p:sp>
        <p:pic>
          <p:nvPicPr>
            <p:cNvPr id="69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6928" y="5321808"/>
              <a:ext cx="310896" cy="310896"/>
            </a:xfrm>
            <a:prstGeom prst="rect">
              <a:avLst/>
            </a:prstGeom>
          </p:spPr>
        </p:pic>
        <p:sp>
          <p:nvSpPr>
            <p:cNvPr id="70" name="Text 61"/>
            <p:cNvSpPr/>
            <p:nvPr/>
          </p:nvSpPr>
          <p:spPr>
            <a:xfrm>
              <a:off x="941832" y="5266944"/>
              <a:ext cx="1717243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71" name="Text 62"/>
            <p:cNvSpPr/>
            <p:nvPr/>
          </p:nvSpPr>
          <p:spPr>
            <a:xfrm>
              <a:off x="566928" y="5742432"/>
              <a:ext cx="2037283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Mother mills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(HSM · TSCR · TSK · TSM)</a:t>
              </a:r>
              <a:endParaRPr lang="en-US" sz="850" dirty="0"/>
            </a:p>
          </p:txBody>
        </p:sp>
        <p:sp>
          <p:nvSpPr>
            <p:cNvPr id="72" name="Shape 63"/>
            <p:cNvSpPr/>
            <p:nvPr/>
          </p:nvSpPr>
          <p:spPr>
            <a:xfrm>
              <a:off x="2704795" y="5349240"/>
              <a:ext cx="0" cy="777240"/>
            </a:xfrm>
            <a:prstGeom prst="line">
              <a:avLst/>
            </a:prstGeom>
            <a:noFill/>
            <a:ln w="12700">
              <a:solidFill>
                <a:srgbClr val="CFE0EF"/>
              </a:solidFill>
              <a:prstDash val="solid"/>
            </a:ln>
          </p:spPr>
        </p:sp>
        <p:pic>
          <p:nvPicPr>
            <p:cNvPr id="73" name="Image 7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32811" y="5321808"/>
              <a:ext cx="310896" cy="310896"/>
            </a:xfrm>
            <a:prstGeom prst="rect">
              <a:avLst/>
            </a:prstGeom>
          </p:spPr>
        </p:pic>
        <p:sp>
          <p:nvSpPr>
            <p:cNvPr id="74" name="Text 64"/>
            <p:cNvSpPr/>
            <p:nvPr/>
          </p:nvSpPr>
          <p:spPr>
            <a:xfrm>
              <a:off x="3207715" y="5266944"/>
              <a:ext cx="1717243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27</a:t>
              </a:r>
              <a:endParaRPr lang="en-US" sz="2200" dirty="0"/>
            </a:p>
          </p:txBody>
        </p:sp>
        <p:sp>
          <p:nvSpPr>
            <p:cNvPr id="75" name="Text 65"/>
            <p:cNvSpPr/>
            <p:nvPr/>
          </p:nvSpPr>
          <p:spPr>
            <a:xfrm>
              <a:off x="2832811" y="5742432"/>
              <a:ext cx="2037283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Flat-product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service centres (SPCs)</a:t>
              </a:r>
              <a:endParaRPr lang="en-US" sz="850" dirty="0"/>
            </a:p>
          </p:txBody>
        </p:sp>
        <p:sp>
          <p:nvSpPr>
            <p:cNvPr id="76" name="Shape 66"/>
            <p:cNvSpPr/>
            <p:nvPr/>
          </p:nvSpPr>
          <p:spPr>
            <a:xfrm>
              <a:off x="4970678" y="5349240"/>
              <a:ext cx="0" cy="777240"/>
            </a:xfrm>
            <a:prstGeom prst="line">
              <a:avLst/>
            </a:prstGeom>
            <a:noFill/>
            <a:ln w="12700">
              <a:solidFill>
                <a:srgbClr val="CFE0EF"/>
              </a:solidFill>
              <a:prstDash val="solid"/>
            </a:ln>
          </p:spPr>
        </p:sp>
        <p:pic>
          <p:nvPicPr>
            <p:cNvPr id="77" name="Image 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98694" y="5321808"/>
              <a:ext cx="310896" cy="310896"/>
            </a:xfrm>
            <a:prstGeom prst="rect">
              <a:avLst/>
            </a:prstGeom>
          </p:spPr>
        </p:pic>
        <p:sp>
          <p:nvSpPr>
            <p:cNvPr id="78" name="Text 67"/>
            <p:cNvSpPr/>
            <p:nvPr/>
          </p:nvSpPr>
          <p:spPr>
            <a:xfrm>
              <a:off x="5473598" y="5266944"/>
              <a:ext cx="1717243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</a:t>
              </a:r>
              <a:endParaRPr lang="en-US" sz="2200" dirty="0"/>
            </a:p>
          </p:txBody>
        </p:sp>
        <p:sp>
          <p:nvSpPr>
            <p:cNvPr id="79" name="Text 68"/>
            <p:cNvSpPr/>
            <p:nvPr/>
          </p:nvSpPr>
          <p:spPr>
            <a:xfrm>
              <a:off x="5098694" y="5742432"/>
              <a:ext cx="2037283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Stockyards across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network</a:t>
              </a:r>
              <a:endParaRPr lang="en-US" sz="850" dirty="0"/>
            </a:p>
          </p:txBody>
        </p:sp>
        <p:sp>
          <p:nvSpPr>
            <p:cNvPr id="80" name="Shape 69"/>
            <p:cNvSpPr/>
            <p:nvPr/>
          </p:nvSpPr>
          <p:spPr>
            <a:xfrm>
              <a:off x="7236562" y="5349240"/>
              <a:ext cx="0" cy="777240"/>
            </a:xfrm>
            <a:prstGeom prst="line">
              <a:avLst/>
            </a:prstGeom>
            <a:noFill/>
            <a:ln w="12700">
              <a:solidFill>
                <a:srgbClr val="CFE0EF"/>
              </a:solidFill>
              <a:prstDash val="solid"/>
            </a:ln>
          </p:spPr>
        </p:sp>
        <p:pic>
          <p:nvPicPr>
            <p:cNvPr id="81" name="Image 9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64578" y="5321808"/>
              <a:ext cx="310896" cy="310896"/>
            </a:xfrm>
            <a:prstGeom prst="rect">
              <a:avLst/>
            </a:prstGeom>
          </p:spPr>
        </p:pic>
        <p:sp>
          <p:nvSpPr>
            <p:cNvPr id="82" name="Text 70"/>
            <p:cNvSpPr/>
            <p:nvPr/>
          </p:nvSpPr>
          <p:spPr>
            <a:xfrm>
              <a:off x="7739482" y="5266944"/>
              <a:ext cx="1717243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Road · Rake · Coastal</a:t>
              </a:r>
              <a:endParaRPr lang="en-US" sz="1100" dirty="0"/>
            </a:p>
          </p:txBody>
        </p:sp>
        <p:sp>
          <p:nvSpPr>
            <p:cNvPr id="83" name="Text 71"/>
            <p:cNvSpPr/>
            <p:nvPr/>
          </p:nvSpPr>
          <p:spPr>
            <a:xfrm>
              <a:off x="7364578" y="5742432"/>
              <a:ext cx="2037283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Multi-modal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outbound logistics</a:t>
              </a:r>
              <a:endParaRPr lang="en-US" sz="850" dirty="0"/>
            </a:p>
          </p:txBody>
        </p:sp>
        <p:sp>
          <p:nvSpPr>
            <p:cNvPr id="84" name="Shape 72"/>
            <p:cNvSpPr/>
            <p:nvPr/>
          </p:nvSpPr>
          <p:spPr>
            <a:xfrm>
              <a:off x="9502445" y="5349240"/>
              <a:ext cx="0" cy="777240"/>
            </a:xfrm>
            <a:prstGeom prst="line">
              <a:avLst/>
            </a:prstGeom>
            <a:noFill/>
            <a:ln w="12700">
              <a:solidFill>
                <a:srgbClr val="CFE0EF"/>
              </a:solidFill>
              <a:prstDash val="solid"/>
            </a:ln>
          </p:spPr>
        </p:sp>
        <p:pic>
          <p:nvPicPr>
            <p:cNvPr id="85" name="Image 10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30461" y="5321808"/>
              <a:ext cx="310896" cy="310896"/>
            </a:xfrm>
            <a:prstGeom prst="rect">
              <a:avLst/>
            </a:prstGeom>
          </p:spPr>
        </p:pic>
        <p:sp>
          <p:nvSpPr>
            <p:cNvPr id="86" name="Text 73"/>
            <p:cNvSpPr/>
            <p:nvPr/>
          </p:nvSpPr>
          <p:spPr>
            <a:xfrm>
              <a:off x="10005365" y="5266944"/>
              <a:ext cx="1717243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1,500+</a:t>
              </a:r>
              <a:endParaRPr lang="en-US" sz="2200" dirty="0"/>
            </a:p>
          </p:txBody>
        </p:sp>
        <p:sp>
          <p:nvSpPr>
            <p:cNvPr id="87" name="Text 74"/>
            <p:cNvSpPr/>
            <p:nvPr/>
          </p:nvSpPr>
          <p:spPr>
            <a:xfrm>
              <a:off x="9630461" y="5742432"/>
              <a:ext cx="2037283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Customers served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across segments</a:t>
              </a:r>
              <a:endParaRPr lang="en-US" sz="850" dirty="0"/>
            </a:p>
          </p:txBody>
        </p:sp>
      </p:grpSp>
      <p:sp>
        <p:nvSpPr>
          <p:cNvPr id="88" name="Text 75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Tata Steel supply-chain &amp; logistics overview (TSK). Cost identity per Tata BPM steelmaking-spread formula.</a:t>
            </a:r>
            <a:endParaRPr lang="en-US" sz="750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3ED09397-1AF9-03F6-A288-399E9719531F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00528E"/>
          </a:solidFill>
          <a:ln w="12700">
            <a:solidFill>
              <a:srgbClr val="0052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Steel in HRC — and the Competitive Field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274320" y="1078992"/>
            <a:ext cx="1165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India's big-4 integrated flat producers; competing on cost, value-added mix and an integrated raw-material base.</a:t>
            </a:r>
            <a:endParaRPr lang="en-US" sz="1150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FFE625F-F147-9723-D50E-16EF3201836A}"/>
              </a:ext>
            </a:extLst>
          </p:cNvPr>
          <p:cNvGrpSpPr/>
          <p:nvPr/>
        </p:nvGrpSpPr>
        <p:grpSpPr>
          <a:xfrm>
            <a:off x="274320" y="1517904"/>
            <a:ext cx="11658600" cy="1005840"/>
            <a:chOff x="274320" y="1517904"/>
            <a:chExt cx="11658600" cy="1005840"/>
          </a:xfrm>
        </p:grpSpPr>
        <p:sp>
          <p:nvSpPr>
            <p:cNvPr id="19" name="Shape 17"/>
            <p:cNvSpPr/>
            <p:nvPr/>
          </p:nvSpPr>
          <p:spPr>
            <a:xfrm>
              <a:off x="274320" y="1517904"/>
              <a:ext cx="2763774" cy="1005840"/>
            </a:xfrm>
            <a:prstGeom prst="roundRect">
              <a:avLst>
                <a:gd name="adj" fmla="val 5455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20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624" y="1773936"/>
              <a:ext cx="457200" cy="457200"/>
            </a:xfrm>
            <a:prstGeom prst="rect">
              <a:avLst/>
            </a:prstGeom>
          </p:spPr>
        </p:pic>
        <p:sp>
          <p:nvSpPr>
            <p:cNvPr id="21" name="Text 18"/>
            <p:cNvSpPr/>
            <p:nvPr/>
          </p:nvSpPr>
          <p:spPr>
            <a:xfrm>
              <a:off x="932688" y="1591056"/>
              <a:ext cx="203225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26.1 MT</a:t>
              </a:r>
              <a:endParaRPr lang="en-US" sz="19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932688" y="2020824"/>
              <a:ext cx="205054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Tata Steel India crude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capacity (post-KPO II)</a:t>
              </a:r>
              <a:endParaRPr lang="en-US" sz="1000" dirty="0"/>
            </a:p>
          </p:txBody>
        </p:sp>
        <p:sp>
          <p:nvSpPr>
            <p:cNvPr id="23" name="Shape 20"/>
            <p:cNvSpPr/>
            <p:nvPr/>
          </p:nvSpPr>
          <p:spPr>
            <a:xfrm>
              <a:off x="3239262" y="1517904"/>
              <a:ext cx="2763774" cy="1005840"/>
            </a:xfrm>
            <a:prstGeom prst="roundRect">
              <a:avLst>
                <a:gd name="adj" fmla="val 5455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24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5566" y="1773936"/>
              <a:ext cx="457200" cy="457200"/>
            </a:xfrm>
            <a:prstGeom prst="rect">
              <a:avLst/>
            </a:prstGeom>
          </p:spPr>
        </p:pic>
        <p:sp>
          <p:nvSpPr>
            <p:cNvPr id="25" name="Text 21"/>
            <p:cNvSpPr/>
            <p:nvPr/>
          </p:nvSpPr>
          <p:spPr>
            <a:xfrm>
              <a:off x="3897630" y="1591056"/>
              <a:ext cx="203225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23.5 MT</a:t>
              </a:r>
              <a:endParaRPr lang="en-US" sz="1900" dirty="0"/>
            </a:p>
          </p:txBody>
        </p:sp>
        <p:sp>
          <p:nvSpPr>
            <p:cNvPr id="26" name="Text 22"/>
            <p:cNvSpPr/>
            <p:nvPr/>
          </p:nvSpPr>
          <p:spPr>
            <a:xfrm>
              <a:off x="3897630" y="2020824"/>
              <a:ext cx="205054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Best-ever FY26 India crude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production (+8% YoY)</a:t>
              </a:r>
              <a:endParaRPr lang="en-US" sz="1000" dirty="0"/>
            </a:p>
          </p:txBody>
        </p:sp>
        <p:sp>
          <p:nvSpPr>
            <p:cNvPr id="27" name="Shape 23"/>
            <p:cNvSpPr/>
            <p:nvPr/>
          </p:nvSpPr>
          <p:spPr>
            <a:xfrm>
              <a:off x="6204204" y="1517904"/>
              <a:ext cx="2763774" cy="1005840"/>
            </a:xfrm>
            <a:prstGeom prst="roundRect">
              <a:avLst>
                <a:gd name="adj" fmla="val 5455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2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50508" y="1773936"/>
              <a:ext cx="457200" cy="457200"/>
            </a:xfrm>
            <a:prstGeom prst="rect">
              <a:avLst/>
            </a:prstGeom>
          </p:spPr>
        </p:pic>
        <p:sp>
          <p:nvSpPr>
            <p:cNvPr id="29" name="Text 24"/>
            <p:cNvSpPr/>
            <p:nvPr/>
          </p:nvSpPr>
          <p:spPr>
            <a:xfrm>
              <a:off x="6862572" y="1591056"/>
              <a:ext cx="203225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20+ MT</a:t>
              </a:r>
              <a:endParaRPr lang="en-US" sz="1900" dirty="0"/>
            </a:p>
          </p:txBody>
        </p:sp>
        <p:sp>
          <p:nvSpPr>
            <p:cNvPr id="30" name="Text 25"/>
            <p:cNvSpPr/>
            <p:nvPr/>
          </p:nvSpPr>
          <p:spPr>
            <a:xfrm>
              <a:off x="6862572" y="2020824"/>
              <a:ext cx="205054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FY26 domestic deliveries —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crossed 20 MT first time</a:t>
              </a:r>
              <a:endParaRPr lang="en-US" sz="1000" dirty="0"/>
            </a:p>
          </p:txBody>
        </p:sp>
        <p:sp>
          <p:nvSpPr>
            <p:cNvPr id="31" name="Shape 26"/>
            <p:cNvSpPr/>
            <p:nvPr/>
          </p:nvSpPr>
          <p:spPr>
            <a:xfrm>
              <a:off x="9169146" y="1517904"/>
              <a:ext cx="2763774" cy="1005840"/>
            </a:xfrm>
            <a:prstGeom prst="roundRect">
              <a:avLst>
                <a:gd name="adj" fmla="val 5455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32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15450" y="1773936"/>
              <a:ext cx="457200" cy="457200"/>
            </a:xfrm>
            <a:prstGeom prst="rect">
              <a:avLst/>
            </a:prstGeom>
          </p:spPr>
        </p:pic>
        <p:sp>
          <p:nvSpPr>
            <p:cNvPr id="33" name="Text 27"/>
            <p:cNvSpPr/>
            <p:nvPr/>
          </p:nvSpPr>
          <p:spPr>
            <a:xfrm>
              <a:off x="9827514" y="1591056"/>
              <a:ext cx="203225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9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₹58.7k/t</a:t>
              </a:r>
              <a:endParaRPr lang="en-US" sz="1900" dirty="0"/>
            </a:p>
          </p:txBody>
        </p:sp>
        <p:sp>
          <p:nvSpPr>
            <p:cNvPr id="34" name="Text 28"/>
            <p:cNvSpPr/>
            <p:nvPr/>
          </p:nvSpPr>
          <p:spPr>
            <a:xfrm>
              <a:off x="9827514" y="2020824"/>
              <a:ext cx="205054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Domestic HRC spot price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(May 2026 reference)</a:t>
              </a:r>
              <a:endParaRPr lang="en-US" sz="1000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CFCB408-75B3-DC30-9C7A-2DAE29DD1A3A}"/>
              </a:ext>
            </a:extLst>
          </p:cNvPr>
          <p:cNvGrpSpPr/>
          <p:nvPr/>
        </p:nvGrpSpPr>
        <p:grpSpPr>
          <a:xfrm>
            <a:off x="274320" y="2724912"/>
            <a:ext cx="5989320" cy="3703320"/>
            <a:chOff x="274320" y="2724912"/>
            <a:chExt cx="5989320" cy="3703320"/>
          </a:xfrm>
        </p:grpSpPr>
        <p:sp>
          <p:nvSpPr>
            <p:cNvPr id="35" name="Shape 29"/>
            <p:cNvSpPr/>
            <p:nvPr/>
          </p:nvSpPr>
          <p:spPr>
            <a:xfrm>
              <a:off x="274320" y="2724912"/>
              <a:ext cx="5989320" cy="3703320"/>
            </a:xfrm>
            <a:prstGeom prst="roundRect">
              <a:avLst>
                <a:gd name="adj" fmla="val 1235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6" name="Shape 30"/>
            <p:cNvSpPr/>
            <p:nvPr/>
          </p:nvSpPr>
          <p:spPr>
            <a:xfrm>
              <a:off x="274320" y="2724912"/>
              <a:ext cx="598932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37" name="Shape 31"/>
            <p:cNvSpPr/>
            <p:nvPr/>
          </p:nvSpPr>
          <p:spPr>
            <a:xfrm>
              <a:off x="274320" y="2889504"/>
              <a:ext cx="598932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38" name="Text 32"/>
            <p:cNvSpPr/>
            <p:nvPr/>
          </p:nvSpPr>
          <p:spPr>
            <a:xfrm>
              <a:off x="274320" y="2724912"/>
              <a:ext cx="59893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 crude-steel capacity by producer (MTPA)</a:t>
              </a:r>
              <a:endParaRPr lang="en-US" sz="1200" dirty="0"/>
            </a:p>
          </p:txBody>
        </p:sp>
        <p:graphicFrame>
          <p:nvGraphicFramePr>
            <p:cNvPr id="39" name="Chart 0"/>
            <p:cNvGraphicFramePr/>
            <p:nvPr>
              <p:extLst>
                <p:ext uri="{D42A27DB-BD31-4B8C-83A1-F6EECF244321}">
                  <p14:modId xmlns:p14="http://schemas.microsoft.com/office/powerpoint/2010/main" val="1118208978"/>
                </p:ext>
              </p:extLst>
            </p:nvPr>
          </p:nvGraphicFramePr>
          <p:xfrm>
            <a:off x="411480" y="3182112"/>
            <a:ext cx="5715000" cy="14173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40" name="Shape 33"/>
            <p:cNvSpPr/>
            <p:nvPr/>
          </p:nvSpPr>
          <p:spPr>
            <a:xfrm>
              <a:off x="420624" y="4736592"/>
              <a:ext cx="5696712" cy="1554480"/>
            </a:xfrm>
            <a:prstGeom prst="roundRect">
              <a:avLst>
                <a:gd name="adj" fmla="val 2941"/>
              </a:avLst>
            </a:prstGeom>
            <a:solidFill>
              <a:srgbClr val="F4F8FC"/>
            </a:solidFill>
            <a:ln/>
          </p:spPr>
        </p:sp>
        <p:sp>
          <p:nvSpPr>
            <p:cNvPr id="41" name="Text 34"/>
            <p:cNvSpPr/>
            <p:nvPr/>
          </p:nvSpPr>
          <p:spPr>
            <a:xfrm>
              <a:off x="548640" y="4809744"/>
              <a:ext cx="54406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Tata Steel's structural edge</a:t>
              </a:r>
              <a:endParaRPr lang="en-US" sz="1000" dirty="0"/>
            </a:p>
          </p:txBody>
        </p:sp>
        <p:sp>
          <p:nvSpPr>
            <p:cNvPr id="42" name="Text 35"/>
            <p:cNvSpPr/>
            <p:nvPr/>
          </p:nvSpPr>
          <p:spPr>
            <a:xfrm>
              <a:off x="548640" y="5047488"/>
              <a:ext cx="545896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spcAft>
                  <a:spcPts val="300"/>
                </a:spcAft>
                <a:buSzPct val="100000"/>
              </a:pPr>
              <a:r>
                <a:rPr lang="en-US" sz="1000" b="1" dirty="0">
                  <a:solidFill>
                    <a:srgbClr val="1A2733"/>
                  </a:solidFill>
                </a:rPr>
                <a:t>Captive iron ore &amp; coal</a:t>
              </a:r>
              <a:endParaRPr lang="en-US" sz="1000" dirty="0"/>
            </a:p>
            <a:p>
              <a:pPr marL="0" lvl="1" indent="0">
                <a:spcAft>
                  <a:spcPts val="500"/>
                </a:spcAft>
                <a:buNone/>
              </a:pPr>
              <a:r>
                <a:rPr lang="en-US" sz="1000" dirty="0">
                  <a:solidFill>
                    <a:srgbClr val="5B6770"/>
                  </a:solidFill>
                </a:rPr>
                <a:t>Integrated mines in Jharkhand &amp; Odisha cushion raw-material cost</a:t>
              </a:r>
              <a:endParaRPr lang="en-US" sz="1000" dirty="0"/>
            </a:p>
            <a:p>
              <a:pPr>
                <a:spcAft>
                  <a:spcPts val="300"/>
                </a:spcAft>
                <a:buSzPct val="100000"/>
              </a:pPr>
              <a:r>
                <a:rPr lang="en-US" sz="1000" b="1" dirty="0">
                  <a:solidFill>
                    <a:srgbClr val="1A2733"/>
                  </a:solidFill>
                </a:rPr>
                <a:t>Value-added flat mix</a:t>
              </a:r>
              <a:endParaRPr lang="en-US" sz="1000" dirty="0"/>
            </a:p>
            <a:p>
              <a:pPr marL="0" lvl="1" indent="0">
                <a:spcAft>
                  <a:spcPts val="500"/>
                </a:spcAft>
                <a:buNone/>
              </a:pPr>
              <a:r>
                <a:rPr lang="en-US" sz="1000" dirty="0">
                  <a:solidFill>
                    <a:srgbClr val="5B6770"/>
                  </a:solidFill>
                </a:rPr>
                <a:t>Auto AHSS, branded retail, tubes, tinplate — richer than commodity slab</a:t>
              </a:r>
              <a:endParaRPr lang="en-US" sz="1000" dirty="0"/>
            </a:p>
            <a:p>
              <a:pPr>
                <a:spcAft>
                  <a:spcPts val="300"/>
                </a:spcAft>
                <a:buSzPct val="100000"/>
              </a:pPr>
              <a:r>
                <a:rPr lang="en-US" sz="1000" b="1" dirty="0">
                  <a:solidFill>
                    <a:srgbClr val="1A2733"/>
                  </a:solidFill>
                </a:rPr>
                <a:t>Scale runway to 40 MTPA</a:t>
              </a:r>
              <a:endParaRPr lang="en-US" sz="1000" dirty="0"/>
            </a:p>
            <a:p>
              <a:pPr marL="0" lvl="1" indent="0">
                <a:buNone/>
              </a:pPr>
              <a:r>
                <a:rPr lang="en-US" sz="1000" dirty="0">
                  <a:solidFill>
                    <a:srgbClr val="5B6770"/>
                  </a:solidFill>
                </a:rPr>
                <a:t>Kalinganagar ramp-up + Ludhiana EAF, Jamshedpur Combi Mill</a:t>
              </a:r>
              <a:endParaRPr lang="en-US" sz="1000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3241C69-2A6B-B745-563B-C42BC4107641}"/>
              </a:ext>
            </a:extLst>
          </p:cNvPr>
          <p:cNvGrpSpPr/>
          <p:nvPr/>
        </p:nvGrpSpPr>
        <p:grpSpPr>
          <a:xfrm>
            <a:off x="6492240" y="2724912"/>
            <a:ext cx="5440680" cy="3767328"/>
            <a:chOff x="6492240" y="2724912"/>
            <a:chExt cx="5440680" cy="3767328"/>
          </a:xfrm>
        </p:grpSpPr>
        <p:sp>
          <p:nvSpPr>
            <p:cNvPr id="43" name="Shape 36"/>
            <p:cNvSpPr/>
            <p:nvPr/>
          </p:nvSpPr>
          <p:spPr>
            <a:xfrm>
              <a:off x="6492240" y="2724912"/>
              <a:ext cx="5440680" cy="3703320"/>
            </a:xfrm>
            <a:prstGeom prst="roundRect">
              <a:avLst>
                <a:gd name="adj" fmla="val 1235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4" name="Shape 37"/>
            <p:cNvSpPr/>
            <p:nvPr/>
          </p:nvSpPr>
          <p:spPr>
            <a:xfrm>
              <a:off x="6492240" y="2724912"/>
              <a:ext cx="544068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45" name="Shape 38"/>
            <p:cNvSpPr/>
            <p:nvPr/>
          </p:nvSpPr>
          <p:spPr>
            <a:xfrm>
              <a:off x="6492240" y="2889504"/>
              <a:ext cx="544068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46" name="Text 39"/>
            <p:cNvSpPr/>
            <p:nvPr/>
          </p:nvSpPr>
          <p:spPr>
            <a:xfrm>
              <a:off x="6492240" y="2724912"/>
              <a:ext cx="54406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the big-4 flat producers compare</a:t>
              </a:r>
              <a:endParaRPr lang="en-US" sz="1200" dirty="0"/>
            </a:p>
          </p:txBody>
        </p:sp>
        <p:sp>
          <p:nvSpPr>
            <p:cNvPr id="47" name="Shape 40"/>
            <p:cNvSpPr/>
            <p:nvPr/>
          </p:nvSpPr>
          <p:spPr>
            <a:xfrm>
              <a:off x="6656832" y="3182112"/>
              <a:ext cx="1417320" cy="384048"/>
            </a:xfrm>
            <a:prstGeom prst="rect">
              <a:avLst/>
            </a:prstGeom>
            <a:solidFill>
              <a:srgbClr val="00528E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48" name="Text 41"/>
            <p:cNvSpPr/>
            <p:nvPr/>
          </p:nvSpPr>
          <p:spPr>
            <a:xfrm>
              <a:off x="6711696" y="3182112"/>
              <a:ext cx="13075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Producer</a:t>
              </a:r>
              <a:endParaRPr lang="en-US" sz="1000" dirty="0"/>
            </a:p>
          </p:txBody>
        </p:sp>
        <p:sp>
          <p:nvSpPr>
            <p:cNvPr id="49" name="Shape 42"/>
            <p:cNvSpPr/>
            <p:nvPr/>
          </p:nvSpPr>
          <p:spPr>
            <a:xfrm>
              <a:off x="8074152" y="3182112"/>
              <a:ext cx="960120" cy="384048"/>
            </a:xfrm>
            <a:prstGeom prst="rect">
              <a:avLst/>
            </a:prstGeom>
            <a:solidFill>
              <a:srgbClr val="00528E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50" name="Text 43"/>
            <p:cNvSpPr/>
            <p:nvPr/>
          </p:nvSpPr>
          <p:spPr>
            <a:xfrm>
              <a:off x="8129016" y="3182112"/>
              <a:ext cx="8503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 cap.</a:t>
              </a:r>
              <a:endParaRPr lang="en-US" sz="1000" dirty="0"/>
            </a:p>
          </p:txBody>
        </p:sp>
        <p:sp>
          <p:nvSpPr>
            <p:cNvPr id="51" name="Shape 44"/>
            <p:cNvSpPr/>
            <p:nvPr/>
          </p:nvSpPr>
          <p:spPr>
            <a:xfrm>
              <a:off x="9034272" y="3182112"/>
              <a:ext cx="914400" cy="384048"/>
            </a:xfrm>
            <a:prstGeom prst="rect">
              <a:avLst/>
            </a:prstGeom>
            <a:solidFill>
              <a:srgbClr val="00528E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52" name="Text 45"/>
            <p:cNvSpPr/>
            <p:nvPr/>
          </p:nvSpPr>
          <p:spPr>
            <a:xfrm>
              <a:off x="9089136" y="3182112"/>
              <a:ext cx="80467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Flat focus</a:t>
              </a:r>
              <a:endParaRPr lang="en-US" sz="1000" dirty="0"/>
            </a:p>
          </p:txBody>
        </p:sp>
        <p:sp>
          <p:nvSpPr>
            <p:cNvPr id="53" name="Shape 46"/>
            <p:cNvSpPr/>
            <p:nvPr/>
          </p:nvSpPr>
          <p:spPr>
            <a:xfrm>
              <a:off x="9948672" y="3182112"/>
              <a:ext cx="1819656" cy="384048"/>
            </a:xfrm>
            <a:prstGeom prst="rect">
              <a:avLst/>
            </a:prstGeom>
            <a:solidFill>
              <a:srgbClr val="00528E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54" name="Text 47"/>
            <p:cNvSpPr/>
            <p:nvPr/>
          </p:nvSpPr>
          <p:spPr>
            <a:xfrm>
              <a:off x="10003536" y="3182112"/>
              <a:ext cx="170992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Edge</a:t>
              </a:r>
              <a:endParaRPr lang="en-US" sz="1000" dirty="0"/>
            </a:p>
          </p:txBody>
        </p:sp>
        <p:sp>
          <p:nvSpPr>
            <p:cNvPr id="55" name="Shape 48"/>
            <p:cNvSpPr/>
            <p:nvPr/>
          </p:nvSpPr>
          <p:spPr>
            <a:xfrm>
              <a:off x="6656832" y="3566160"/>
              <a:ext cx="1417320" cy="384048"/>
            </a:xfrm>
            <a:prstGeom prst="rect">
              <a:avLst/>
            </a:prstGeom>
            <a:solidFill>
              <a:srgbClr val="F4F8FC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56" name="Text 49"/>
            <p:cNvSpPr/>
            <p:nvPr/>
          </p:nvSpPr>
          <p:spPr>
            <a:xfrm>
              <a:off x="6711696" y="3566160"/>
              <a:ext cx="13075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Tata Steel</a:t>
              </a:r>
              <a:endParaRPr lang="en-US" sz="1000" dirty="0"/>
            </a:p>
          </p:txBody>
        </p:sp>
        <p:sp>
          <p:nvSpPr>
            <p:cNvPr id="57" name="Shape 50"/>
            <p:cNvSpPr/>
            <p:nvPr/>
          </p:nvSpPr>
          <p:spPr>
            <a:xfrm>
              <a:off x="8074152" y="3566160"/>
              <a:ext cx="960120" cy="384048"/>
            </a:xfrm>
            <a:prstGeom prst="rect">
              <a:avLst/>
            </a:prstGeom>
            <a:solidFill>
              <a:srgbClr val="F4F8FC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58" name="Text 51"/>
            <p:cNvSpPr/>
            <p:nvPr/>
          </p:nvSpPr>
          <p:spPr>
            <a:xfrm>
              <a:off x="8129016" y="3566160"/>
              <a:ext cx="8503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26.1 MT</a:t>
              </a:r>
              <a:endParaRPr lang="en-US" sz="1000" dirty="0"/>
            </a:p>
          </p:txBody>
        </p:sp>
        <p:sp>
          <p:nvSpPr>
            <p:cNvPr id="59" name="Shape 52"/>
            <p:cNvSpPr/>
            <p:nvPr/>
          </p:nvSpPr>
          <p:spPr>
            <a:xfrm>
              <a:off x="9034272" y="3566160"/>
              <a:ext cx="914400" cy="384048"/>
            </a:xfrm>
            <a:prstGeom prst="rect">
              <a:avLst/>
            </a:prstGeom>
            <a:solidFill>
              <a:srgbClr val="F4F8FC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60" name="Text 53"/>
            <p:cNvSpPr/>
            <p:nvPr/>
          </p:nvSpPr>
          <p:spPr>
            <a:xfrm>
              <a:off x="9089136" y="3566160"/>
              <a:ext cx="80467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000" dirty="0"/>
            </a:p>
          </p:txBody>
        </p:sp>
        <p:sp>
          <p:nvSpPr>
            <p:cNvPr id="61" name="Shape 54"/>
            <p:cNvSpPr/>
            <p:nvPr/>
          </p:nvSpPr>
          <p:spPr>
            <a:xfrm>
              <a:off x="9948672" y="3566160"/>
              <a:ext cx="1819656" cy="384048"/>
            </a:xfrm>
            <a:prstGeom prst="rect">
              <a:avLst/>
            </a:prstGeom>
            <a:solidFill>
              <a:srgbClr val="F4F8FC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62" name="Text 55"/>
            <p:cNvSpPr/>
            <p:nvPr/>
          </p:nvSpPr>
          <p:spPr>
            <a:xfrm>
              <a:off x="10003536" y="3566160"/>
              <a:ext cx="170992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Captive ore + VA mix</a:t>
              </a:r>
              <a:endParaRPr lang="en-US" sz="1000" dirty="0"/>
            </a:p>
          </p:txBody>
        </p:sp>
        <p:sp>
          <p:nvSpPr>
            <p:cNvPr id="63" name="Shape 56"/>
            <p:cNvSpPr/>
            <p:nvPr/>
          </p:nvSpPr>
          <p:spPr>
            <a:xfrm>
              <a:off x="6656832" y="3950208"/>
              <a:ext cx="141732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64" name="Text 57"/>
            <p:cNvSpPr/>
            <p:nvPr/>
          </p:nvSpPr>
          <p:spPr>
            <a:xfrm>
              <a:off x="6711696" y="3950208"/>
              <a:ext cx="13075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JSW Steel</a:t>
              </a:r>
              <a:endParaRPr lang="en-US" sz="1000" dirty="0"/>
            </a:p>
          </p:txBody>
        </p:sp>
        <p:sp>
          <p:nvSpPr>
            <p:cNvPr id="65" name="Shape 58"/>
            <p:cNvSpPr/>
            <p:nvPr/>
          </p:nvSpPr>
          <p:spPr>
            <a:xfrm>
              <a:off x="8074152" y="3950208"/>
              <a:ext cx="96012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66" name="Text 59"/>
            <p:cNvSpPr/>
            <p:nvPr/>
          </p:nvSpPr>
          <p:spPr>
            <a:xfrm>
              <a:off x="8129016" y="3950208"/>
              <a:ext cx="8503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34.2 MT</a:t>
              </a:r>
              <a:endParaRPr lang="en-US" sz="1000" dirty="0"/>
            </a:p>
          </p:txBody>
        </p:sp>
        <p:sp>
          <p:nvSpPr>
            <p:cNvPr id="67" name="Shape 60"/>
            <p:cNvSpPr/>
            <p:nvPr/>
          </p:nvSpPr>
          <p:spPr>
            <a:xfrm>
              <a:off x="9034272" y="3950208"/>
              <a:ext cx="91440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68" name="Text 61"/>
            <p:cNvSpPr/>
            <p:nvPr/>
          </p:nvSpPr>
          <p:spPr>
            <a:xfrm>
              <a:off x="9089136" y="3950208"/>
              <a:ext cx="80467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000" dirty="0"/>
            </a:p>
          </p:txBody>
        </p:sp>
        <p:sp>
          <p:nvSpPr>
            <p:cNvPr id="69" name="Shape 62"/>
            <p:cNvSpPr/>
            <p:nvPr/>
          </p:nvSpPr>
          <p:spPr>
            <a:xfrm>
              <a:off x="9948672" y="3950208"/>
              <a:ext cx="1819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70" name="Text 63"/>
            <p:cNvSpPr/>
            <p:nvPr/>
          </p:nvSpPr>
          <p:spPr>
            <a:xfrm>
              <a:off x="10003536" y="3950208"/>
              <a:ext cx="170992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Largest scale, Vijayanagar</a:t>
              </a:r>
              <a:endParaRPr lang="en-US" sz="1000" dirty="0"/>
            </a:p>
          </p:txBody>
        </p:sp>
        <p:sp>
          <p:nvSpPr>
            <p:cNvPr id="71" name="Shape 64"/>
            <p:cNvSpPr/>
            <p:nvPr/>
          </p:nvSpPr>
          <p:spPr>
            <a:xfrm>
              <a:off x="6656832" y="4334256"/>
              <a:ext cx="1417320" cy="384048"/>
            </a:xfrm>
            <a:prstGeom prst="rect">
              <a:avLst/>
            </a:prstGeom>
            <a:solidFill>
              <a:srgbClr val="F4F8FC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72" name="Text 65"/>
            <p:cNvSpPr/>
            <p:nvPr/>
          </p:nvSpPr>
          <p:spPr>
            <a:xfrm>
              <a:off x="6711696" y="4334256"/>
              <a:ext cx="13075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SAIL</a:t>
              </a:r>
              <a:endParaRPr lang="en-US" sz="1000" dirty="0"/>
            </a:p>
          </p:txBody>
        </p:sp>
        <p:sp>
          <p:nvSpPr>
            <p:cNvPr id="73" name="Shape 66"/>
            <p:cNvSpPr/>
            <p:nvPr/>
          </p:nvSpPr>
          <p:spPr>
            <a:xfrm>
              <a:off x="8074152" y="4334256"/>
              <a:ext cx="960120" cy="384048"/>
            </a:xfrm>
            <a:prstGeom prst="rect">
              <a:avLst/>
            </a:prstGeom>
            <a:solidFill>
              <a:srgbClr val="F4F8FC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74" name="Text 67"/>
            <p:cNvSpPr/>
            <p:nvPr/>
          </p:nvSpPr>
          <p:spPr>
            <a:xfrm>
              <a:off x="8129016" y="4334256"/>
              <a:ext cx="8503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~20.6 MT</a:t>
              </a:r>
              <a:endParaRPr lang="en-US" sz="1000" dirty="0"/>
            </a:p>
          </p:txBody>
        </p:sp>
        <p:sp>
          <p:nvSpPr>
            <p:cNvPr id="75" name="Shape 68"/>
            <p:cNvSpPr/>
            <p:nvPr/>
          </p:nvSpPr>
          <p:spPr>
            <a:xfrm>
              <a:off x="9034272" y="4334256"/>
              <a:ext cx="914400" cy="384048"/>
            </a:xfrm>
            <a:prstGeom prst="rect">
              <a:avLst/>
            </a:prstGeom>
            <a:solidFill>
              <a:srgbClr val="F4F8FC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76" name="Text 69"/>
            <p:cNvSpPr/>
            <p:nvPr/>
          </p:nvSpPr>
          <p:spPr>
            <a:xfrm>
              <a:off x="9089136" y="4334256"/>
              <a:ext cx="80467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Medium</a:t>
              </a:r>
              <a:endParaRPr lang="en-US" sz="1000" dirty="0"/>
            </a:p>
          </p:txBody>
        </p:sp>
        <p:sp>
          <p:nvSpPr>
            <p:cNvPr id="77" name="Shape 70"/>
            <p:cNvSpPr/>
            <p:nvPr/>
          </p:nvSpPr>
          <p:spPr>
            <a:xfrm>
              <a:off x="9948672" y="4334256"/>
              <a:ext cx="1819656" cy="384048"/>
            </a:xfrm>
            <a:prstGeom prst="rect">
              <a:avLst/>
            </a:prstGeom>
            <a:solidFill>
              <a:srgbClr val="F4F8FC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78" name="Text 71"/>
            <p:cNvSpPr/>
            <p:nvPr/>
          </p:nvSpPr>
          <p:spPr>
            <a:xfrm>
              <a:off x="10003536" y="4334256"/>
              <a:ext cx="170992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PSU, plates &amp; rails</a:t>
              </a:r>
              <a:endParaRPr lang="en-US" sz="1000" dirty="0"/>
            </a:p>
          </p:txBody>
        </p:sp>
        <p:sp>
          <p:nvSpPr>
            <p:cNvPr id="79" name="Shape 72"/>
            <p:cNvSpPr/>
            <p:nvPr/>
          </p:nvSpPr>
          <p:spPr>
            <a:xfrm>
              <a:off x="6656832" y="4718304"/>
              <a:ext cx="141732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80" name="Text 73"/>
            <p:cNvSpPr/>
            <p:nvPr/>
          </p:nvSpPr>
          <p:spPr>
            <a:xfrm>
              <a:off x="6711696" y="4718304"/>
              <a:ext cx="13075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AM/NS India</a:t>
              </a:r>
              <a:endParaRPr lang="en-US" sz="1000" dirty="0"/>
            </a:p>
          </p:txBody>
        </p:sp>
        <p:sp>
          <p:nvSpPr>
            <p:cNvPr id="81" name="Shape 74"/>
            <p:cNvSpPr/>
            <p:nvPr/>
          </p:nvSpPr>
          <p:spPr>
            <a:xfrm>
              <a:off x="8074152" y="4718304"/>
              <a:ext cx="96012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82" name="Text 75"/>
            <p:cNvSpPr/>
            <p:nvPr/>
          </p:nvSpPr>
          <p:spPr>
            <a:xfrm>
              <a:off x="8129016" y="4718304"/>
              <a:ext cx="85039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~9.6 MT</a:t>
              </a:r>
              <a:endParaRPr lang="en-US" sz="1000" dirty="0"/>
            </a:p>
          </p:txBody>
        </p:sp>
        <p:sp>
          <p:nvSpPr>
            <p:cNvPr id="83" name="Shape 76"/>
            <p:cNvSpPr/>
            <p:nvPr/>
          </p:nvSpPr>
          <p:spPr>
            <a:xfrm>
              <a:off x="9034272" y="4718304"/>
              <a:ext cx="914400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84" name="Text 77"/>
            <p:cNvSpPr/>
            <p:nvPr/>
          </p:nvSpPr>
          <p:spPr>
            <a:xfrm>
              <a:off x="9089136" y="4718304"/>
              <a:ext cx="804672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</a:t>
              </a:r>
              <a:endParaRPr lang="en-US" sz="1000" dirty="0"/>
            </a:p>
          </p:txBody>
        </p:sp>
        <p:sp>
          <p:nvSpPr>
            <p:cNvPr id="85" name="Shape 78"/>
            <p:cNvSpPr/>
            <p:nvPr/>
          </p:nvSpPr>
          <p:spPr>
            <a:xfrm>
              <a:off x="9948672" y="4718304"/>
              <a:ext cx="1819656" cy="3840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FE0EF"/>
              </a:solidFill>
              <a:prstDash val="solid"/>
            </a:ln>
          </p:spPr>
        </p:sp>
        <p:sp>
          <p:nvSpPr>
            <p:cNvPr id="86" name="Text 79"/>
            <p:cNvSpPr/>
            <p:nvPr/>
          </p:nvSpPr>
          <p:spPr>
            <a:xfrm>
              <a:off x="10003536" y="4718304"/>
              <a:ext cx="170992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Auto-grade, Hazira</a:t>
              </a:r>
              <a:endParaRPr lang="en-US" sz="1000" dirty="0"/>
            </a:p>
          </p:txBody>
        </p:sp>
        <p:sp>
          <p:nvSpPr>
            <p:cNvPr id="87" name="Shape 80"/>
            <p:cNvSpPr/>
            <p:nvPr/>
          </p:nvSpPr>
          <p:spPr>
            <a:xfrm>
              <a:off x="6656832" y="5248656"/>
              <a:ext cx="5111496" cy="987552"/>
            </a:xfrm>
            <a:prstGeom prst="roundRect">
              <a:avLst>
                <a:gd name="adj" fmla="val 3521"/>
              </a:avLst>
            </a:prstGeom>
            <a:solidFill>
              <a:srgbClr val="EAF3FB"/>
            </a:solidFill>
            <a:ln/>
          </p:spPr>
        </p:sp>
        <p:pic>
          <p:nvPicPr>
            <p:cNvPr id="88" name="Image 4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03136" y="5413248"/>
              <a:ext cx="365760" cy="365760"/>
            </a:xfrm>
            <a:prstGeom prst="rect">
              <a:avLst/>
            </a:prstGeom>
          </p:spPr>
        </p:pic>
        <p:sp>
          <p:nvSpPr>
            <p:cNvPr id="89" name="Text 81"/>
            <p:cNvSpPr/>
            <p:nvPr/>
          </p:nvSpPr>
          <p:spPr>
            <a:xfrm>
              <a:off x="7278624" y="5376672"/>
              <a:ext cx="44348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pricing is hard here</a:t>
              </a:r>
              <a:endParaRPr lang="en-US" sz="1000" dirty="0"/>
            </a:p>
          </p:txBody>
        </p:sp>
        <p:sp>
          <p:nvSpPr>
            <p:cNvPr id="90" name="Text 82"/>
            <p:cNvSpPr/>
            <p:nvPr/>
          </p:nvSpPr>
          <p:spPr>
            <a:xfrm>
              <a:off x="7278624" y="5614416"/>
              <a:ext cx="4471416" cy="8778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HRC is a near-commodity: four scaled producers, trade-parity pricing vs landed Chinese imports, and thin differentiation mean realisations are set as much by global cost and import parity signals as by domestic demand.</a:t>
              </a:r>
              <a:endParaRPr lang="en-US" sz="1000" dirty="0"/>
            </a:p>
          </p:txBody>
        </p:sp>
      </p:grpSp>
      <p:sp>
        <p:nvSpPr>
          <p:cNvPr id="91" name="Text 83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Tata Steel FY26 business update &amp; Annual Report; company filings (JSW, SAIL, AM/NS); Nomura/Kotak HRC price notes (May 2026). Capacities approximate, India operations.</a:t>
            </a:r>
            <a:endParaRPr lang="en-US" sz="750" dirty="0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F329DF22-553D-D778-9D3A-09233B572E9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00528E"/>
          </a:solidFill>
          <a:ln w="12700">
            <a:solidFill>
              <a:srgbClr val="0052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HRC Is Priced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274320" y="1078992"/>
            <a:ext cx="1165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HRC is a managed monthly price built off global cost, import parity and the steelmaking spread — not set in isolation.</a:t>
            </a:r>
            <a:endParaRPr lang="en-US" sz="115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B034BB7-E5EA-B385-B2D8-2BD1FB697D53}"/>
              </a:ext>
            </a:extLst>
          </p:cNvPr>
          <p:cNvGrpSpPr/>
          <p:nvPr/>
        </p:nvGrpSpPr>
        <p:grpSpPr>
          <a:xfrm>
            <a:off x="274320" y="1481328"/>
            <a:ext cx="2763774" cy="1783080"/>
            <a:chOff x="274320" y="1481328"/>
            <a:chExt cx="2763774" cy="1783080"/>
          </a:xfrm>
        </p:grpSpPr>
        <p:sp>
          <p:nvSpPr>
            <p:cNvPr id="19" name="Shape 17"/>
            <p:cNvSpPr/>
            <p:nvPr/>
          </p:nvSpPr>
          <p:spPr>
            <a:xfrm>
              <a:off x="274320" y="1481328"/>
              <a:ext cx="2763774" cy="178308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1354455" y="1645920"/>
              <a:ext cx="603504" cy="603504"/>
            </a:xfrm>
            <a:prstGeom prst="ellipse">
              <a:avLst/>
            </a:prstGeom>
            <a:solidFill>
              <a:srgbClr val="EAF3FB"/>
            </a:solidFill>
            <a:ln w="12700">
              <a:solidFill>
                <a:srgbClr val="0071C1"/>
              </a:solidFill>
              <a:prstDash val="solid"/>
            </a:ln>
          </p:spPr>
        </p:sp>
        <p:pic>
          <p:nvPicPr>
            <p:cNvPr id="21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1615" y="1783080"/>
              <a:ext cx="329184" cy="329184"/>
            </a:xfrm>
            <a:prstGeom prst="rect">
              <a:avLst/>
            </a:prstGeom>
          </p:spPr>
        </p:pic>
        <p:sp>
          <p:nvSpPr>
            <p:cNvPr id="22" name="Text 19"/>
            <p:cNvSpPr/>
            <p:nvPr/>
          </p:nvSpPr>
          <p:spPr>
            <a:xfrm>
              <a:off x="384048" y="2322576"/>
              <a:ext cx="254431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Trade-parity anchor</a:t>
              </a:r>
              <a:endParaRPr lang="en-US" sz="12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402336" y="2633472"/>
              <a:ext cx="250774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Domestic HRC tracks landed Chinese FOB + freight + duty. Imports set the ceiling.</a:t>
              </a:r>
              <a:endParaRPr lang="en-US" sz="100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89BFCE4-68E0-9486-5433-C54CEAEB8A7B}"/>
              </a:ext>
            </a:extLst>
          </p:cNvPr>
          <p:cNvGrpSpPr/>
          <p:nvPr/>
        </p:nvGrpSpPr>
        <p:grpSpPr>
          <a:xfrm>
            <a:off x="3239262" y="1481328"/>
            <a:ext cx="2763774" cy="1783080"/>
            <a:chOff x="3239262" y="1481328"/>
            <a:chExt cx="2763774" cy="1783080"/>
          </a:xfrm>
        </p:grpSpPr>
        <p:sp>
          <p:nvSpPr>
            <p:cNvPr id="24" name="Shape 21"/>
            <p:cNvSpPr/>
            <p:nvPr/>
          </p:nvSpPr>
          <p:spPr>
            <a:xfrm>
              <a:off x="3239262" y="1481328"/>
              <a:ext cx="2763774" cy="178308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" name="Shape 22"/>
            <p:cNvSpPr/>
            <p:nvPr/>
          </p:nvSpPr>
          <p:spPr>
            <a:xfrm>
              <a:off x="4319397" y="1645920"/>
              <a:ext cx="603504" cy="603504"/>
            </a:xfrm>
            <a:prstGeom prst="ellipse">
              <a:avLst/>
            </a:prstGeom>
            <a:solidFill>
              <a:srgbClr val="EAF3FB"/>
            </a:solidFill>
            <a:ln w="12700">
              <a:solidFill>
                <a:srgbClr val="0071C1"/>
              </a:solidFill>
              <a:prstDash val="solid"/>
            </a:ln>
          </p:spPr>
        </p:sp>
        <p:pic>
          <p:nvPicPr>
            <p:cNvPr id="2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6557" y="1783080"/>
              <a:ext cx="329184" cy="329184"/>
            </a:xfrm>
            <a:prstGeom prst="rect">
              <a:avLst/>
            </a:prstGeom>
          </p:spPr>
        </p:pic>
        <p:sp>
          <p:nvSpPr>
            <p:cNvPr id="27" name="Text 23"/>
            <p:cNvSpPr/>
            <p:nvPr/>
          </p:nvSpPr>
          <p:spPr>
            <a:xfrm>
              <a:off x="3348990" y="2322576"/>
              <a:ext cx="254431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steelmaking spread</a:t>
              </a:r>
              <a:endParaRPr lang="en-US" sz="1200" dirty="0"/>
            </a:p>
          </p:txBody>
        </p:sp>
        <p:sp>
          <p:nvSpPr>
            <p:cNvPr id="28" name="Text 24"/>
            <p:cNvSpPr/>
            <p:nvPr/>
          </p:nvSpPr>
          <p:spPr>
            <a:xfrm>
              <a:off x="3367278" y="2633472"/>
              <a:ext cx="250774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HRC − (1.6×iron ore + 0.9×coking coal). The margin the business actually earns — the core of pricing defensibility.</a:t>
              </a:r>
              <a:endParaRPr lang="en-US" sz="1000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F427636-C41A-5D84-33B8-780FCF9A13E4}"/>
              </a:ext>
            </a:extLst>
          </p:cNvPr>
          <p:cNvGrpSpPr/>
          <p:nvPr/>
        </p:nvGrpSpPr>
        <p:grpSpPr>
          <a:xfrm>
            <a:off x="6204204" y="1481328"/>
            <a:ext cx="2763774" cy="1783080"/>
            <a:chOff x="6204204" y="1481328"/>
            <a:chExt cx="2763774" cy="1783080"/>
          </a:xfrm>
        </p:grpSpPr>
        <p:sp>
          <p:nvSpPr>
            <p:cNvPr id="29" name="Shape 25"/>
            <p:cNvSpPr/>
            <p:nvPr/>
          </p:nvSpPr>
          <p:spPr>
            <a:xfrm>
              <a:off x="6204204" y="1481328"/>
              <a:ext cx="2763774" cy="178308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0" name="Shape 26"/>
            <p:cNvSpPr/>
            <p:nvPr/>
          </p:nvSpPr>
          <p:spPr>
            <a:xfrm>
              <a:off x="7284339" y="1645920"/>
              <a:ext cx="603504" cy="603504"/>
            </a:xfrm>
            <a:prstGeom prst="ellipse">
              <a:avLst/>
            </a:prstGeom>
            <a:solidFill>
              <a:srgbClr val="EAF3FB"/>
            </a:solidFill>
            <a:ln w="12700">
              <a:solidFill>
                <a:srgbClr val="0071C1"/>
              </a:solidFill>
              <a:prstDash val="solid"/>
            </a:ln>
          </p:spPr>
        </p:sp>
        <p:pic>
          <p:nvPicPr>
            <p:cNvPr id="3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21499" y="1783080"/>
              <a:ext cx="329184" cy="329184"/>
            </a:xfrm>
            <a:prstGeom prst="rect">
              <a:avLst/>
            </a:prstGeom>
          </p:spPr>
        </p:pic>
        <p:sp>
          <p:nvSpPr>
            <p:cNvPr id="32" name="Text 27"/>
            <p:cNvSpPr/>
            <p:nvPr/>
          </p:nvSpPr>
          <p:spPr>
            <a:xfrm>
              <a:off x="6313932" y="2322576"/>
              <a:ext cx="254431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Contract vs spot</a:t>
              </a:r>
              <a:endParaRPr lang="en-US" sz="1200" dirty="0"/>
            </a:p>
          </p:txBody>
        </p:sp>
        <p:sp>
          <p:nvSpPr>
            <p:cNvPr id="33" name="Text 28"/>
            <p:cNvSpPr/>
            <p:nvPr/>
          </p:nvSpPr>
          <p:spPr>
            <a:xfrm>
              <a:off x="6332220" y="2633472"/>
              <a:ext cx="250774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OEM contracts (quarterly/half-yearly, volume) vs distributor/spot (monthly, price-led). SPA manages the spread between them.</a:t>
              </a:r>
              <a:endParaRPr lang="en-US" sz="100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E4B79E6-AB2D-387D-338E-91CDB4A27D62}"/>
              </a:ext>
            </a:extLst>
          </p:cNvPr>
          <p:cNvGrpSpPr/>
          <p:nvPr/>
        </p:nvGrpSpPr>
        <p:grpSpPr>
          <a:xfrm>
            <a:off x="9169146" y="1481328"/>
            <a:ext cx="2763774" cy="1783080"/>
            <a:chOff x="9169146" y="1481328"/>
            <a:chExt cx="2763774" cy="1783080"/>
          </a:xfrm>
        </p:grpSpPr>
        <p:sp>
          <p:nvSpPr>
            <p:cNvPr id="34" name="Shape 29"/>
            <p:cNvSpPr/>
            <p:nvPr/>
          </p:nvSpPr>
          <p:spPr>
            <a:xfrm>
              <a:off x="9169146" y="1481328"/>
              <a:ext cx="2763774" cy="1783080"/>
            </a:xfrm>
            <a:prstGeom prst="roundRect">
              <a:avLst>
                <a:gd name="adj" fmla="val 2564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5" name="Shape 30"/>
            <p:cNvSpPr/>
            <p:nvPr/>
          </p:nvSpPr>
          <p:spPr>
            <a:xfrm>
              <a:off x="10249281" y="1645920"/>
              <a:ext cx="603504" cy="603504"/>
            </a:xfrm>
            <a:prstGeom prst="ellipse">
              <a:avLst/>
            </a:prstGeom>
            <a:solidFill>
              <a:srgbClr val="EAF3FB"/>
            </a:solidFill>
            <a:ln w="12700">
              <a:solidFill>
                <a:srgbClr val="0071C1"/>
              </a:solidFill>
              <a:prstDash val="solid"/>
            </a:ln>
          </p:spPr>
        </p:sp>
        <p:pic>
          <p:nvPicPr>
            <p:cNvPr id="36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86441" y="1783080"/>
              <a:ext cx="329184" cy="329184"/>
            </a:xfrm>
            <a:prstGeom prst="rect">
              <a:avLst/>
            </a:prstGeom>
          </p:spPr>
        </p:pic>
        <p:sp>
          <p:nvSpPr>
            <p:cNvPr id="37" name="Text 31"/>
            <p:cNvSpPr/>
            <p:nvPr/>
          </p:nvSpPr>
          <p:spPr>
            <a:xfrm>
              <a:off x="9278874" y="2322576"/>
              <a:ext cx="254431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Differentials &amp; discounts</a:t>
              </a:r>
              <a:endParaRPr lang="en-US" sz="1200" dirty="0"/>
            </a:p>
          </p:txBody>
        </p:sp>
        <p:sp>
          <p:nvSpPr>
            <p:cNvPr id="38" name="Text 32"/>
            <p:cNvSpPr/>
            <p:nvPr/>
          </p:nvSpPr>
          <p:spPr>
            <a:xfrm>
              <a:off x="9297162" y="2633472"/>
              <a:ext cx="250774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Regional freight differentials, grade premia, mill discounts and seasonal patterns layer on the base price list.</a:t>
              </a:r>
              <a:endParaRPr lang="en-US" sz="10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5E4B8B0-18AB-22EC-0ED4-CC3579ABC89B}"/>
              </a:ext>
            </a:extLst>
          </p:cNvPr>
          <p:cNvGrpSpPr/>
          <p:nvPr/>
        </p:nvGrpSpPr>
        <p:grpSpPr>
          <a:xfrm>
            <a:off x="274320" y="3474720"/>
            <a:ext cx="11658600" cy="2743200"/>
            <a:chOff x="274320" y="3474720"/>
            <a:chExt cx="11658600" cy="2743200"/>
          </a:xfrm>
        </p:grpSpPr>
        <p:sp>
          <p:nvSpPr>
            <p:cNvPr id="39" name="Shape 33"/>
            <p:cNvSpPr/>
            <p:nvPr/>
          </p:nvSpPr>
          <p:spPr>
            <a:xfrm>
              <a:off x="274320" y="3474720"/>
              <a:ext cx="11658600" cy="27432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0" name="Shape 34"/>
            <p:cNvSpPr/>
            <p:nvPr/>
          </p:nvSpPr>
          <p:spPr>
            <a:xfrm>
              <a:off x="274320" y="3474720"/>
              <a:ext cx="1165860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41" name="Shape 35"/>
            <p:cNvSpPr/>
            <p:nvPr/>
          </p:nvSpPr>
          <p:spPr>
            <a:xfrm>
              <a:off x="274320" y="3639312"/>
              <a:ext cx="1165860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42" name="Text 36"/>
            <p:cNvSpPr/>
            <p:nvPr/>
          </p:nvSpPr>
          <p:spPr>
            <a:xfrm>
              <a:off x="274320" y="3474720"/>
              <a:ext cx="11658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spread is the margin</a:t>
              </a:r>
              <a:endParaRPr lang="en-US" sz="1200" dirty="0"/>
            </a:p>
          </p:txBody>
        </p:sp>
        <p:sp>
          <p:nvSpPr>
            <p:cNvPr id="43" name="Shape 37"/>
            <p:cNvSpPr/>
            <p:nvPr/>
          </p:nvSpPr>
          <p:spPr>
            <a:xfrm>
              <a:off x="438911" y="3913632"/>
              <a:ext cx="11102693" cy="493776"/>
            </a:xfrm>
            <a:prstGeom prst="roundRect">
              <a:avLst>
                <a:gd name="adj" fmla="val 9259"/>
              </a:avLst>
            </a:prstGeom>
            <a:solidFill>
              <a:srgbClr val="00528E"/>
            </a:solidFill>
            <a:ln/>
          </p:spPr>
        </p:sp>
        <p:sp>
          <p:nvSpPr>
            <p:cNvPr id="44" name="Text 38"/>
            <p:cNvSpPr/>
            <p:nvPr/>
          </p:nvSpPr>
          <p:spPr>
            <a:xfrm>
              <a:off x="438911" y="3913632"/>
              <a:ext cx="11102693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SPREAD = HRC − ( 1.6 × Iron Ore + 0.9 × Coking Coal )</a:t>
              </a:r>
              <a:endParaRPr lang="en-US" sz="1150" dirty="0"/>
            </a:p>
          </p:txBody>
        </p:sp>
        <p:graphicFrame>
          <p:nvGraphicFramePr>
            <p:cNvPr id="45" name="Chart 0"/>
            <p:cNvGraphicFramePr/>
            <p:nvPr>
              <p:extLst>
                <p:ext uri="{D42A27DB-BD31-4B8C-83A1-F6EECF244321}">
                  <p14:modId xmlns:p14="http://schemas.microsoft.com/office/powerpoint/2010/main" val="3609241214"/>
                </p:ext>
              </p:extLst>
            </p:nvPr>
          </p:nvGraphicFramePr>
          <p:xfrm>
            <a:off x="411480" y="4690872"/>
            <a:ext cx="11195344" cy="11887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sp>
        <p:nvSpPr>
          <p:cNvPr id="59" name="Text 50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HRC pricing mechanics (trade parity, contract/spot, differentials) per India market practice; Tata BPM steelmaking-spread formula &amp; FY figures.</a:t>
            </a:r>
            <a:endParaRPr lang="en-US" sz="75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84BB5CE5-7605-2BE5-E8FB-F599787E861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274320" y="1078992"/>
            <a:ext cx="1165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decisions are made with the right intent but incomplete evidence — reactive, lagging, and hard to defend after the fact.</a:t>
            </a:r>
            <a:endParaRPr lang="en-US" sz="115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FAE3EC2-A711-3DE1-A6B0-0D675BBF9E1C}"/>
              </a:ext>
            </a:extLst>
          </p:cNvPr>
          <p:cNvGrpSpPr/>
          <p:nvPr/>
        </p:nvGrpSpPr>
        <p:grpSpPr>
          <a:xfrm>
            <a:off x="274320" y="1517904"/>
            <a:ext cx="11658600" cy="1874520"/>
            <a:chOff x="274320" y="1517904"/>
            <a:chExt cx="11658600" cy="1874520"/>
          </a:xfrm>
        </p:grpSpPr>
        <p:sp>
          <p:nvSpPr>
            <p:cNvPr id="19" name="Shape 17"/>
            <p:cNvSpPr/>
            <p:nvPr/>
          </p:nvSpPr>
          <p:spPr>
            <a:xfrm>
              <a:off x="274320" y="1517904"/>
              <a:ext cx="3739896" cy="1874520"/>
            </a:xfrm>
            <a:prstGeom prst="roundRect">
              <a:avLst>
                <a:gd name="adj" fmla="val 2927"/>
              </a:avLst>
            </a:prstGeom>
            <a:solidFill>
              <a:srgbClr val="FFFFFF"/>
            </a:solidFill>
            <a:ln w="15875">
              <a:solidFill>
                <a:srgbClr val="E6C3B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475488" y="1737360"/>
              <a:ext cx="640080" cy="640080"/>
            </a:xfrm>
            <a:prstGeom prst="ellipse">
              <a:avLst/>
            </a:prstGeom>
            <a:solidFill>
              <a:srgbClr val="FBEAE8"/>
            </a:solidFill>
            <a:ln w="12700">
              <a:solidFill>
                <a:srgbClr val="C0392B"/>
              </a:solidFill>
              <a:prstDash val="solid"/>
            </a:ln>
          </p:spPr>
        </p:sp>
        <p:pic>
          <p:nvPicPr>
            <p:cNvPr id="21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792" y="1883664"/>
              <a:ext cx="347472" cy="347472"/>
            </a:xfrm>
            <a:prstGeom prst="rect">
              <a:avLst/>
            </a:prstGeom>
          </p:spPr>
        </p:pic>
        <p:sp>
          <p:nvSpPr>
            <p:cNvPr id="22" name="Text 19"/>
            <p:cNvSpPr/>
            <p:nvPr/>
          </p:nvSpPr>
          <p:spPr>
            <a:xfrm>
              <a:off x="1243584" y="1773936"/>
              <a:ext cx="264261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Reactive, not anticipatory</a:t>
              </a:r>
              <a:endParaRPr lang="en-US" sz="1300" dirty="0"/>
            </a:p>
          </p:txBody>
        </p:sp>
        <p:sp>
          <p:nvSpPr>
            <p:cNvPr id="23" name="Text 20"/>
            <p:cNvSpPr/>
            <p:nvPr/>
          </p:nvSpPr>
          <p:spPr>
            <a:xfrm>
              <a:off x="493776" y="2523744"/>
              <a:ext cx="3300984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Prices react after iron ore, coking coal and Chinese HRC have already moved. By the time the cost shows up in realisations, the window to act has passed.</a:t>
              </a:r>
              <a:endParaRPr lang="en-US" sz="10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4233672" y="1517904"/>
              <a:ext cx="3739896" cy="1874520"/>
            </a:xfrm>
            <a:prstGeom prst="roundRect">
              <a:avLst>
                <a:gd name="adj" fmla="val 2927"/>
              </a:avLst>
            </a:prstGeom>
            <a:solidFill>
              <a:srgbClr val="FFFFFF"/>
            </a:solidFill>
            <a:ln w="15875">
              <a:solidFill>
                <a:srgbClr val="E6C3B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" name="Shape 22"/>
            <p:cNvSpPr/>
            <p:nvPr/>
          </p:nvSpPr>
          <p:spPr>
            <a:xfrm>
              <a:off x="4434840" y="1737360"/>
              <a:ext cx="640080" cy="640080"/>
            </a:xfrm>
            <a:prstGeom prst="ellipse">
              <a:avLst/>
            </a:prstGeom>
            <a:solidFill>
              <a:srgbClr val="FBEAE8"/>
            </a:solidFill>
            <a:ln w="12700">
              <a:solidFill>
                <a:srgbClr val="C0392B"/>
              </a:solidFill>
              <a:prstDash val="solid"/>
            </a:ln>
          </p:spPr>
        </p:sp>
        <p:pic>
          <p:nvPicPr>
            <p:cNvPr id="2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81144" y="1883664"/>
              <a:ext cx="347472" cy="347472"/>
            </a:xfrm>
            <a:prstGeom prst="rect">
              <a:avLst/>
            </a:prstGeom>
          </p:spPr>
        </p:pic>
        <p:sp>
          <p:nvSpPr>
            <p:cNvPr id="27" name="Text 23"/>
            <p:cNvSpPr/>
            <p:nvPr/>
          </p:nvSpPr>
          <p:spPr>
            <a:xfrm>
              <a:off x="5202936" y="1773936"/>
              <a:ext cx="264261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early-warning signals</a:t>
              </a:r>
              <a:endParaRPr lang="en-US" sz="1300" dirty="0"/>
            </a:p>
          </p:txBody>
        </p:sp>
        <p:sp>
          <p:nvSpPr>
            <p:cNvPr id="28" name="Text 24"/>
            <p:cNvSpPr/>
            <p:nvPr/>
          </p:nvSpPr>
          <p:spPr>
            <a:xfrm>
              <a:off x="4453128" y="2523744"/>
              <a:ext cx="3300984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systematic read on which drivers lead HRC, by how many months, or where the margin sits versus history. Decisions lean on instinct, not a watch-list.</a:t>
              </a:r>
              <a:endParaRPr lang="en-US" sz="1000" dirty="0"/>
            </a:p>
          </p:txBody>
        </p:sp>
        <p:sp>
          <p:nvSpPr>
            <p:cNvPr id="29" name="Shape 25"/>
            <p:cNvSpPr/>
            <p:nvPr/>
          </p:nvSpPr>
          <p:spPr>
            <a:xfrm>
              <a:off x="8193024" y="1517904"/>
              <a:ext cx="3739896" cy="1874520"/>
            </a:xfrm>
            <a:prstGeom prst="roundRect">
              <a:avLst>
                <a:gd name="adj" fmla="val 2927"/>
              </a:avLst>
            </a:prstGeom>
            <a:solidFill>
              <a:srgbClr val="FFFFFF"/>
            </a:solidFill>
            <a:ln w="15875">
              <a:solidFill>
                <a:srgbClr val="E6C3B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0" name="Shape 26"/>
            <p:cNvSpPr/>
            <p:nvPr/>
          </p:nvSpPr>
          <p:spPr>
            <a:xfrm>
              <a:off x="8394192" y="1737360"/>
              <a:ext cx="640080" cy="640080"/>
            </a:xfrm>
            <a:prstGeom prst="ellipse">
              <a:avLst/>
            </a:prstGeom>
            <a:solidFill>
              <a:srgbClr val="FBEAE8"/>
            </a:solidFill>
            <a:ln w="12700">
              <a:solidFill>
                <a:srgbClr val="C0392B"/>
              </a:solidFill>
              <a:prstDash val="solid"/>
            </a:ln>
          </p:spPr>
        </p:sp>
        <p:pic>
          <p:nvPicPr>
            <p:cNvPr id="3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40496" y="1883664"/>
              <a:ext cx="347472" cy="347472"/>
            </a:xfrm>
            <a:prstGeom prst="rect">
              <a:avLst/>
            </a:prstGeom>
          </p:spPr>
        </p:pic>
        <p:sp>
          <p:nvSpPr>
            <p:cNvPr id="32" name="Text 27"/>
            <p:cNvSpPr/>
            <p:nvPr/>
          </p:nvSpPr>
          <p:spPr>
            <a:xfrm>
              <a:off x="9162288" y="1773936"/>
              <a:ext cx="264261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Hard to defend</a:t>
              </a:r>
              <a:endParaRPr lang="en-US" sz="1300" dirty="0"/>
            </a:p>
          </p:txBody>
        </p:sp>
        <p:sp>
          <p:nvSpPr>
            <p:cNvPr id="33" name="Text 28"/>
            <p:cNvSpPr/>
            <p:nvPr/>
          </p:nvSpPr>
          <p:spPr>
            <a:xfrm>
              <a:off x="8412480" y="2523744"/>
              <a:ext cx="3300984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When realisations miss plan, there's no quantified attribution of what moved the price. So the post-mortem is narrative, not evidence.</a:t>
              </a:r>
              <a:endParaRPr lang="en-US" sz="10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F1A704C-BA3E-0999-7429-F1E44A1E5FF9}"/>
              </a:ext>
            </a:extLst>
          </p:cNvPr>
          <p:cNvGrpSpPr/>
          <p:nvPr/>
        </p:nvGrpSpPr>
        <p:grpSpPr>
          <a:xfrm>
            <a:off x="274320" y="3657600"/>
            <a:ext cx="11658600" cy="1325880"/>
            <a:chOff x="274320" y="3657600"/>
            <a:chExt cx="11658600" cy="1325880"/>
          </a:xfrm>
        </p:grpSpPr>
        <p:sp>
          <p:nvSpPr>
            <p:cNvPr id="34" name="Shape 29"/>
            <p:cNvSpPr/>
            <p:nvPr/>
          </p:nvSpPr>
          <p:spPr>
            <a:xfrm>
              <a:off x="274320" y="3657600"/>
              <a:ext cx="11658600" cy="1325880"/>
            </a:xfrm>
            <a:prstGeom prst="roundRect">
              <a:avLst>
                <a:gd name="adj" fmla="val 3448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5" name="Shape 30"/>
            <p:cNvSpPr/>
            <p:nvPr/>
          </p:nvSpPr>
          <p:spPr>
            <a:xfrm>
              <a:off x="274320" y="3657600"/>
              <a:ext cx="11658600" cy="329184"/>
            </a:xfrm>
            <a:prstGeom prst="roundRect">
              <a:avLst>
                <a:gd name="adj" fmla="val 13889"/>
              </a:avLst>
            </a:prstGeom>
            <a:solidFill>
              <a:srgbClr val="C0392B"/>
            </a:solidFill>
            <a:ln/>
          </p:spPr>
        </p:sp>
        <p:sp>
          <p:nvSpPr>
            <p:cNvPr id="36" name="Shape 31"/>
            <p:cNvSpPr/>
            <p:nvPr/>
          </p:nvSpPr>
          <p:spPr>
            <a:xfrm>
              <a:off x="274320" y="3822192"/>
              <a:ext cx="11658600" cy="164592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37" name="Text 32"/>
            <p:cNvSpPr/>
            <p:nvPr/>
          </p:nvSpPr>
          <p:spPr>
            <a:xfrm>
              <a:off x="274320" y="3657600"/>
              <a:ext cx="11658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cs typeface="Calibri" pitchFamily="34" charset="-120"/>
                </a:rPr>
                <a:t>THE GAP</a:t>
              </a:r>
              <a:endParaRPr lang="en-US" sz="1200" dirty="0"/>
            </a:p>
          </p:txBody>
        </p:sp>
        <p:sp>
          <p:nvSpPr>
            <p:cNvPr id="38" name="Shape 33"/>
            <p:cNvSpPr/>
            <p:nvPr/>
          </p:nvSpPr>
          <p:spPr>
            <a:xfrm>
              <a:off x="457200" y="4114800"/>
              <a:ext cx="5349240" cy="731520"/>
            </a:xfrm>
            <a:prstGeom prst="roundRect">
              <a:avLst>
                <a:gd name="adj" fmla="val 6250"/>
              </a:avLst>
            </a:prstGeom>
            <a:solidFill>
              <a:srgbClr val="FBEAE8"/>
            </a:solidFill>
            <a:ln/>
          </p:spPr>
        </p:sp>
        <p:sp>
          <p:nvSpPr>
            <p:cNvPr id="39" name="Text 34"/>
            <p:cNvSpPr/>
            <p:nvPr/>
          </p:nvSpPr>
          <p:spPr>
            <a:xfrm>
              <a:off x="603504" y="4114800"/>
              <a:ext cx="51206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C0392B"/>
                  </a:solidFill>
                </a:rPr>
                <a:t>TODAY   </a:t>
              </a:r>
              <a:r>
                <a:rPr lang="en-US" sz="1000" dirty="0">
                  <a:solidFill>
                    <a:srgbClr val="1A2733"/>
                  </a:solidFill>
                </a:rPr>
                <a:t>Price moves → we react → explain later, from memory</a:t>
              </a:r>
              <a:endParaRPr lang="en-US" sz="1000" dirty="0"/>
            </a:p>
          </p:txBody>
        </p:sp>
        <p:sp>
          <p:nvSpPr>
            <p:cNvPr id="40" name="Shape 35"/>
            <p:cNvSpPr/>
            <p:nvPr/>
          </p:nvSpPr>
          <p:spPr>
            <a:xfrm>
              <a:off x="5989320" y="4187952"/>
              <a:ext cx="640080" cy="585216"/>
            </a:xfrm>
            <a:prstGeom prst="chevron">
              <a:avLst/>
            </a:prstGeom>
            <a:solidFill>
              <a:srgbClr val="0071C1"/>
            </a:solidFill>
            <a:ln/>
          </p:spPr>
        </p:sp>
        <p:sp>
          <p:nvSpPr>
            <p:cNvPr id="41" name="Shape 36"/>
            <p:cNvSpPr/>
            <p:nvPr/>
          </p:nvSpPr>
          <p:spPr>
            <a:xfrm>
              <a:off x="6812280" y="4114800"/>
              <a:ext cx="4937760" cy="731520"/>
            </a:xfrm>
            <a:prstGeom prst="roundRect">
              <a:avLst>
                <a:gd name="adj" fmla="val 6250"/>
              </a:avLst>
            </a:prstGeom>
            <a:solidFill>
              <a:srgbClr val="EAF3FB"/>
            </a:solidFill>
            <a:ln/>
          </p:spPr>
        </p:sp>
        <p:sp>
          <p:nvSpPr>
            <p:cNvPr id="42" name="Text 37"/>
            <p:cNvSpPr/>
            <p:nvPr/>
          </p:nvSpPr>
          <p:spPr>
            <a:xfrm>
              <a:off x="6958584" y="4114800"/>
              <a:ext cx="46634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0528E"/>
                  </a:solidFill>
                </a:rPr>
                <a:t>NEEDED   </a:t>
              </a:r>
              <a:r>
                <a:rPr lang="en-US" sz="1000" dirty="0">
                  <a:solidFill>
                    <a:srgbClr val="1A2733"/>
                  </a:solidFill>
                </a:rPr>
                <a:t>Leading indicators → act early → decision backed by some evidence</a:t>
              </a:r>
              <a:endParaRPr lang="en-US" sz="10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B068ED7-8E60-3BBA-449A-9D17EDEED4C3}"/>
              </a:ext>
            </a:extLst>
          </p:cNvPr>
          <p:cNvGrpSpPr/>
          <p:nvPr/>
        </p:nvGrpSpPr>
        <p:grpSpPr>
          <a:xfrm>
            <a:off x="274320" y="5175504"/>
            <a:ext cx="11658600" cy="868680"/>
            <a:chOff x="274320" y="5175504"/>
            <a:chExt cx="11658600" cy="868680"/>
          </a:xfrm>
        </p:grpSpPr>
        <p:sp>
          <p:nvSpPr>
            <p:cNvPr id="43" name="Shape 38"/>
            <p:cNvSpPr/>
            <p:nvPr/>
          </p:nvSpPr>
          <p:spPr>
            <a:xfrm>
              <a:off x="274320" y="5175504"/>
              <a:ext cx="11658600" cy="868680"/>
            </a:xfrm>
            <a:prstGeom prst="roundRect">
              <a:avLst>
                <a:gd name="adj" fmla="val 6316"/>
              </a:avLst>
            </a:prstGeom>
            <a:solidFill>
              <a:srgbClr val="00528E"/>
            </a:solidFill>
            <a:ln/>
          </p:spPr>
        </p:sp>
        <p:pic>
          <p:nvPicPr>
            <p:cNvPr id="44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640" y="5468112"/>
              <a:ext cx="310896" cy="310896"/>
            </a:xfrm>
            <a:prstGeom prst="rect">
              <a:avLst/>
            </a:prstGeom>
          </p:spPr>
        </p:pic>
        <p:sp>
          <p:nvSpPr>
            <p:cNvPr id="45" name="Text 39"/>
            <p:cNvSpPr/>
            <p:nvPr/>
          </p:nvSpPr>
          <p:spPr>
            <a:xfrm>
              <a:off x="1005840" y="5175504"/>
              <a:ext cx="1065276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5A300"/>
                  </a:solidFill>
                </a:rPr>
                <a:t>The solution:  </a:t>
              </a:r>
              <a:r>
                <a:rPr lang="en-US" sz="1250" dirty="0">
                  <a:solidFill>
                    <a:srgbClr val="FFFFFF"/>
                  </a:solidFill>
                </a:rPr>
                <a:t>an HRC price-intelligence dashboard that turns 10 years of evidence into a monthly early-warning watch-list for SPA.</a:t>
              </a:r>
              <a:endParaRPr lang="en-US" sz="1300" dirty="0"/>
            </a:p>
          </p:txBody>
        </p:sp>
      </p:grpSp>
      <p:sp>
        <p:nvSpPr>
          <p:cNvPr id="46" name="Text 40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per SPA pricing-administration scope and Tata Steel commercial decision context.</a:t>
            </a:r>
            <a:endParaRPr lang="en-US" sz="7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DE7D290-1B70-DC42-ADEC-B8F2E85DD60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00528E"/>
          </a:solidFill>
          <a:ln w="12700">
            <a:solidFill>
              <a:srgbClr val="0052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A Live HRC Price-Intelligence Dashboard</a:t>
            </a:r>
            <a:endParaRPr lang="en-US" sz="2500" dirty="0"/>
          </a:p>
        </p:txBody>
      </p:sp>
      <p:sp>
        <p:nvSpPr>
          <p:cNvPr id="65" name="Text 52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HRC pipeline (Bmimani007/HRC_Pipeline), deployed on Streamlit Cloud. Coverage as of latest monthly refresh.</a:t>
            </a:r>
            <a:endParaRPr lang="en-US" sz="75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72BE0485-2AD6-81C2-3C94-17344D4329A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D830C844-2E03-D10C-7273-23B79F84A452}"/>
              </a:ext>
            </a:extLst>
          </p:cNvPr>
          <p:cNvGrpSpPr/>
          <p:nvPr/>
        </p:nvGrpSpPr>
        <p:grpSpPr>
          <a:xfrm>
            <a:off x="1494076" y="2784348"/>
            <a:ext cx="6537960" cy="3703320"/>
            <a:chOff x="1494076" y="2784348"/>
            <a:chExt cx="6537960" cy="3703320"/>
          </a:xfrm>
        </p:grpSpPr>
        <p:sp>
          <p:nvSpPr>
            <p:cNvPr id="19" name="Shape 17"/>
            <p:cNvSpPr/>
            <p:nvPr/>
          </p:nvSpPr>
          <p:spPr>
            <a:xfrm>
              <a:off x="1494076" y="2784348"/>
              <a:ext cx="6537960" cy="3703320"/>
            </a:xfrm>
            <a:prstGeom prst="roundRect">
              <a:avLst>
                <a:gd name="adj" fmla="val 1323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1494076" y="2784348"/>
              <a:ext cx="653796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1494076" y="2948940"/>
              <a:ext cx="653796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1494076" y="2784348"/>
              <a:ext cx="6537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Live dashboard — hrcpipeline-tata-bharat.streamlit.app</a:t>
              </a:r>
              <a:endParaRPr lang="en-US" sz="1100" dirty="0"/>
            </a:p>
          </p:txBody>
        </p:sp>
        <p:pic>
          <p:nvPicPr>
            <p:cNvPr id="23" name="Image 0" descr="shots/image52.png"/>
            <p:cNvPicPr>
              <a:picLocks noChangeAspect="1"/>
            </p:cNvPicPr>
            <p:nvPr/>
          </p:nvPicPr>
          <p:blipFill>
            <a:blip r:embed="rId4"/>
            <a:srcRect l="20773" t="6218"/>
            <a:stretch>
              <a:fillRect/>
            </a:stretch>
          </p:blipFill>
          <p:spPr>
            <a:xfrm>
              <a:off x="2069880" y="3172968"/>
              <a:ext cx="5245876" cy="3126712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61E8CC3-B4C0-58AA-B938-49817D65D1AD}"/>
              </a:ext>
            </a:extLst>
          </p:cNvPr>
          <p:cNvGrpSpPr/>
          <p:nvPr/>
        </p:nvGrpSpPr>
        <p:grpSpPr>
          <a:xfrm>
            <a:off x="1494075" y="1243584"/>
            <a:ext cx="6537959" cy="1426464"/>
            <a:chOff x="1494075" y="1243584"/>
            <a:chExt cx="6537959" cy="1426464"/>
          </a:xfrm>
        </p:grpSpPr>
        <p:sp>
          <p:nvSpPr>
            <p:cNvPr id="24" name="Shape 21"/>
            <p:cNvSpPr/>
            <p:nvPr/>
          </p:nvSpPr>
          <p:spPr>
            <a:xfrm>
              <a:off x="1494075" y="1243584"/>
              <a:ext cx="6537959" cy="1426464"/>
            </a:xfrm>
            <a:prstGeom prst="roundRect">
              <a:avLst>
                <a:gd name="adj" fmla="val 3012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" name="Shape 22"/>
            <p:cNvSpPr/>
            <p:nvPr/>
          </p:nvSpPr>
          <p:spPr>
            <a:xfrm>
              <a:off x="1494075" y="1243584"/>
              <a:ext cx="6537959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26" name="Shape 23"/>
            <p:cNvSpPr/>
            <p:nvPr/>
          </p:nvSpPr>
          <p:spPr>
            <a:xfrm>
              <a:off x="1494075" y="1408176"/>
              <a:ext cx="6537959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27" name="Text 24"/>
            <p:cNvSpPr/>
            <p:nvPr/>
          </p:nvSpPr>
          <p:spPr>
            <a:xfrm>
              <a:off x="1494075" y="1243584"/>
              <a:ext cx="6537959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Evidence base — three regions, a decade</a:t>
              </a:r>
              <a:endParaRPr lang="en-US" sz="11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1714044" y="1664208"/>
              <a:ext cx="1910469" cy="851916"/>
            </a:xfrm>
            <a:prstGeom prst="roundRect">
              <a:avLst>
                <a:gd name="adj" fmla="val 5814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1836249" y="1737360"/>
              <a:ext cx="1666059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124</a:t>
              </a:r>
              <a:endParaRPr lang="en-US" sz="17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1787367" y="2066544"/>
              <a:ext cx="1763823" cy="198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CHINA</a:t>
              </a:r>
              <a:endParaRPr lang="en-US" sz="10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1787367" y="2276856"/>
              <a:ext cx="1763823" cy="198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B67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Jan'16–Apr'26 · USD/t · 8 drivers</a:t>
              </a:r>
              <a:endParaRPr lang="en-US" sz="10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3746718" y="1664208"/>
              <a:ext cx="1910469" cy="851916"/>
            </a:xfrm>
            <a:prstGeom prst="roundRect">
              <a:avLst>
                <a:gd name="adj" fmla="val 5814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3868922" y="1737360"/>
              <a:ext cx="1666059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88</a:t>
              </a:r>
              <a:endParaRPr lang="en-US" sz="1700" dirty="0"/>
            </a:p>
          </p:txBody>
        </p:sp>
        <p:sp>
          <p:nvSpPr>
            <p:cNvPr id="34" name="Text 31"/>
            <p:cNvSpPr/>
            <p:nvPr/>
          </p:nvSpPr>
          <p:spPr>
            <a:xfrm>
              <a:off x="3820040" y="2066544"/>
              <a:ext cx="1763823" cy="198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</a:t>
              </a:r>
              <a:endParaRPr lang="en-US" sz="1000" dirty="0"/>
            </a:p>
          </p:txBody>
        </p:sp>
        <p:sp>
          <p:nvSpPr>
            <p:cNvPr id="35" name="Text 32"/>
            <p:cNvSpPr/>
            <p:nvPr/>
          </p:nvSpPr>
          <p:spPr>
            <a:xfrm>
              <a:off x="3820040" y="2276856"/>
              <a:ext cx="1763823" cy="198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B67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Jan'19–Apr'26</a:t>
              </a:r>
              <a:endParaRPr lang="en-US" sz="1000" dirty="0"/>
            </a:p>
          </p:txBody>
        </p:sp>
        <p:sp>
          <p:nvSpPr>
            <p:cNvPr id="36" name="Shape 33"/>
            <p:cNvSpPr/>
            <p:nvPr/>
          </p:nvSpPr>
          <p:spPr>
            <a:xfrm>
              <a:off x="5779391" y="1664208"/>
              <a:ext cx="1910469" cy="851916"/>
            </a:xfrm>
            <a:prstGeom prst="roundRect">
              <a:avLst>
                <a:gd name="adj" fmla="val 5814"/>
              </a:avLst>
            </a:prstGeom>
            <a:solidFill>
              <a:srgbClr val="EAF3FB"/>
            </a:solidFill>
            <a:ln w="12700">
              <a:solidFill>
                <a:srgbClr val="CFE0EF"/>
              </a:solidFill>
              <a:prstDash val="solid"/>
            </a:ln>
          </p:spPr>
        </p:sp>
        <p:sp>
          <p:nvSpPr>
            <p:cNvPr id="37" name="Text 34"/>
            <p:cNvSpPr/>
            <p:nvPr/>
          </p:nvSpPr>
          <p:spPr>
            <a:xfrm>
              <a:off x="5901596" y="1737360"/>
              <a:ext cx="1666059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125</a:t>
              </a:r>
              <a:endParaRPr lang="en-US" sz="1700" dirty="0"/>
            </a:p>
          </p:txBody>
        </p:sp>
        <p:sp>
          <p:nvSpPr>
            <p:cNvPr id="38" name="Text 35"/>
            <p:cNvSpPr/>
            <p:nvPr/>
          </p:nvSpPr>
          <p:spPr>
            <a:xfrm>
              <a:off x="5852714" y="2066544"/>
              <a:ext cx="1763823" cy="198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</a:t>
              </a:r>
              <a:endParaRPr lang="en-US" sz="1000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5852714" y="2276856"/>
              <a:ext cx="1763823" cy="198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5B67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Jan'16–May'26 · price reference</a:t>
              </a:r>
              <a:endParaRPr lang="en-US" sz="1000" dirty="0"/>
            </a:p>
          </p:txBody>
        </p:sp>
      </p:grpSp>
      <p:pic>
        <p:nvPicPr>
          <p:cNvPr id="69" name="Image 0" descr="shots/image52.png">
            <a:extLst>
              <a:ext uri="{FF2B5EF4-FFF2-40B4-BE49-F238E27FC236}">
                <a16:creationId xmlns:a16="http://schemas.microsoft.com/office/drawing/2014/main" id="{883C9F36-5075-DA67-6266-E4F2F7084D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954"/>
          <a:stretch>
            <a:fillRect/>
          </a:stretch>
        </p:blipFill>
        <p:spPr>
          <a:xfrm>
            <a:off x="8506080" y="1243584"/>
            <a:ext cx="2191846" cy="5244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00528E"/>
          </a:solidFill>
          <a:ln w="12700">
            <a:solidFill>
              <a:srgbClr val="0052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HRC Price — Raw Materials Dominate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274320" y="1078992"/>
            <a:ext cx="1165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leads the story; demand and macro come second. The correlation matrix isolates which inputs co-move most with HRC.</a:t>
            </a:r>
            <a:endParaRPr lang="en-US" sz="115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F000049-C015-8A29-80D4-361B5F896F8F}"/>
              </a:ext>
            </a:extLst>
          </p:cNvPr>
          <p:cNvGrpSpPr/>
          <p:nvPr/>
        </p:nvGrpSpPr>
        <p:grpSpPr>
          <a:xfrm>
            <a:off x="274320" y="1481328"/>
            <a:ext cx="6400800" cy="3657600"/>
            <a:chOff x="274320" y="1481328"/>
            <a:chExt cx="6400800" cy="3657600"/>
          </a:xfrm>
        </p:grpSpPr>
        <p:sp>
          <p:nvSpPr>
            <p:cNvPr id="19" name="Shape 17"/>
            <p:cNvSpPr/>
            <p:nvPr/>
          </p:nvSpPr>
          <p:spPr>
            <a:xfrm>
              <a:off x="274320" y="1481328"/>
              <a:ext cx="6400800" cy="3657600"/>
            </a:xfrm>
            <a:prstGeom prst="roundRect">
              <a:avLst>
                <a:gd name="adj" fmla="val 125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274320" y="1481328"/>
              <a:ext cx="640080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274320" y="1645920"/>
              <a:ext cx="640080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274320" y="1481328"/>
              <a:ext cx="64008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Driver ↔ HRC correlation matrix</a:t>
              </a:r>
              <a:endParaRPr lang="en-US" sz="1200" dirty="0"/>
            </a:p>
          </p:txBody>
        </p:sp>
        <p:pic>
          <p:nvPicPr>
            <p:cNvPr id="23" name="Image 0" descr="shots/image8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048" y="2028247"/>
              <a:ext cx="6181344" cy="2838083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7BB103C-136B-F75A-488D-3A3CEC536E7C}"/>
              </a:ext>
            </a:extLst>
          </p:cNvPr>
          <p:cNvGrpSpPr/>
          <p:nvPr/>
        </p:nvGrpSpPr>
        <p:grpSpPr>
          <a:xfrm>
            <a:off x="6903720" y="1481328"/>
            <a:ext cx="5029200" cy="3621024"/>
            <a:chOff x="6903720" y="1481328"/>
            <a:chExt cx="5029200" cy="3621024"/>
          </a:xfrm>
        </p:grpSpPr>
        <p:sp>
          <p:nvSpPr>
            <p:cNvPr id="24" name="Shape 21"/>
            <p:cNvSpPr/>
            <p:nvPr/>
          </p:nvSpPr>
          <p:spPr>
            <a:xfrm>
              <a:off x="6903720" y="1481328"/>
              <a:ext cx="5029200" cy="3621024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" name="Shape 22"/>
            <p:cNvSpPr/>
            <p:nvPr/>
          </p:nvSpPr>
          <p:spPr>
            <a:xfrm>
              <a:off x="6903720" y="1481328"/>
              <a:ext cx="502920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27" name="Text 24"/>
            <p:cNvSpPr/>
            <p:nvPr/>
          </p:nvSpPr>
          <p:spPr>
            <a:xfrm>
              <a:off x="6903720" y="1481328"/>
              <a:ext cx="50292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drivers that matter most</a:t>
              </a:r>
              <a:endParaRPr lang="en-US" sz="12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7050024" y="2029968"/>
              <a:ext cx="4736592" cy="329184"/>
            </a:xfrm>
            <a:prstGeom prst="roundRect">
              <a:avLst>
                <a:gd name="adj" fmla="val 11111"/>
              </a:avLst>
            </a:prstGeom>
            <a:solidFill>
              <a:srgbClr val="EAF3FB"/>
            </a:solidFill>
            <a:ln/>
          </p:spPr>
        </p:sp>
        <p:pic>
          <p:nvPicPr>
            <p:cNvPr id="2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41464" y="2084832"/>
              <a:ext cx="219456" cy="219456"/>
            </a:xfrm>
            <a:prstGeom prst="rect">
              <a:avLst/>
            </a:prstGeom>
          </p:spPr>
        </p:pic>
        <p:sp>
          <p:nvSpPr>
            <p:cNvPr id="30" name="Text 26"/>
            <p:cNvSpPr/>
            <p:nvPr/>
          </p:nvSpPr>
          <p:spPr>
            <a:xfrm>
              <a:off x="7434072" y="2029968"/>
              <a:ext cx="435254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733"/>
                  </a:solidFill>
                </a:rPr>
                <a:t>Iron Ore (62%Fe, China CFR)  </a:t>
              </a:r>
              <a:r>
                <a:rPr lang="en-US" sz="1000" dirty="0">
                  <a:solidFill>
                    <a:srgbClr val="5B6770"/>
                  </a:solidFill>
                </a:rPr>
                <a:t>· Primary cost input</a:t>
              </a:r>
              <a:endParaRPr lang="en-US" sz="10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4668701-8A7E-D7AE-F0AE-E3486FE12FA7}"/>
                </a:ext>
              </a:extLst>
            </p:cNvPr>
            <p:cNvGrpSpPr/>
            <p:nvPr/>
          </p:nvGrpSpPr>
          <p:grpSpPr>
            <a:xfrm>
              <a:off x="7050024" y="2638044"/>
              <a:ext cx="4736592" cy="329184"/>
              <a:chOff x="7050024" y="2267712"/>
              <a:chExt cx="4736592" cy="329184"/>
            </a:xfrm>
          </p:grpSpPr>
          <p:sp>
            <p:nvSpPr>
              <p:cNvPr id="31" name="Shape 27"/>
              <p:cNvSpPr/>
              <p:nvPr/>
            </p:nvSpPr>
            <p:spPr>
              <a:xfrm>
                <a:off x="7050024" y="2267712"/>
                <a:ext cx="4736592" cy="329184"/>
              </a:xfrm>
              <a:prstGeom prst="roundRect">
                <a:avLst>
                  <a:gd name="adj" fmla="val 11111"/>
                </a:avLst>
              </a:prstGeom>
              <a:solidFill>
                <a:srgbClr val="EAF3FB"/>
              </a:solidFill>
              <a:ln/>
            </p:spPr>
          </p:sp>
          <p:pic>
            <p:nvPicPr>
              <p:cNvPr id="32" name="Image 2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41464" y="2322576"/>
                <a:ext cx="219456" cy="219456"/>
              </a:xfrm>
              <a:prstGeom prst="rect">
                <a:avLst/>
              </a:prstGeom>
            </p:spPr>
          </p:pic>
          <p:sp>
            <p:nvSpPr>
              <p:cNvPr id="33" name="Text 28"/>
              <p:cNvSpPr/>
              <p:nvPr/>
            </p:nvSpPr>
            <p:spPr>
              <a:xfrm>
                <a:off x="7434072" y="2267712"/>
                <a:ext cx="4352544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1A2733"/>
                    </a:solidFill>
                  </a:rPr>
                  <a:t>Coking coal (HCC, Aus FOB)  </a:t>
                </a:r>
                <a:r>
                  <a:rPr lang="en-US" sz="1000" dirty="0">
                    <a:solidFill>
                      <a:srgbClr val="5B6770"/>
                    </a:solidFill>
                  </a:rPr>
                  <a:t>· Second-biggest cost</a:t>
                </a:r>
                <a:endParaRPr lang="en-US" sz="1000" dirty="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8500AB1-94B9-F567-DA86-89146B54381C}"/>
                </a:ext>
              </a:extLst>
            </p:cNvPr>
            <p:cNvGrpSpPr/>
            <p:nvPr/>
          </p:nvGrpSpPr>
          <p:grpSpPr>
            <a:xfrm>
              <a:off x="7050024" y="3246120"/>
              <a:ext cx="4736592" cy="329184"/>
              <a:chOff x="7050024" y="2633472"/>
              <a:chExt cx="4736592" cy="329184"/>
            </a:xfrm>
          </p:grpSpPr>
          <p:sp>
            <p:nvSpPr>
              <p:cNvPr id="34" name="Shape 29"/>
              <p:cNvSpPr/>
              <p:nvPr/>
            </p:nvSpPr>
            <p:spPr>
              <a:xfrm>
                <a:off x="7050024" y="2633472"/>
                <a:ext cx="4736592" cy="329184"/>
              </a:xfrm>
              <a:prstGeom prst="roundRect">
                <a:avLst>
                  <a:gd name="adj" fmla="val 11111"/>
                </a:avLst>
              </a:prstGeom>
              <a:solidFill>
                <a:srgbClr val="F4F8FC"/>
              </a:solidFill>
              <a:ln/>
            </p:spPr>
          </p:sp>
          <p:pic>
            <p:nvPicPr>
              <p:cNvPr id="35" name="Image 3" descr="preencoded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1464" y="2688336"/>
                <a:ext cx="219456" cy="219456"/>
              </a:xfrm>
              <a:prstGeom prst="rect">
                <a:avLst/>
              </a:prstGeom>
            </p:spPr>
          </p:pic>
          <p:sp>
            <p:nvSpPr>
              <p:cNvPr id="36" name="Text 30"/>
              <p:cNvSpPr/>
              <p:nvPr/>
            </p:nvSpPr>
            <p:spPr>
              <a:xfrm>
                <a:off x="7434072" y="2633472"/>
                <a:ext cx="4352544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1A2733"/>
                    </a:solidFill>
                  </a:rPr>
                  <a:t>Crude oil  </a:t>
                </a:r>
                <a:r>
                  <a:rPr lang="en-US" sz="1000" dirty="0">
                    <a:solidFill>
                      <a:srgbClr val="5B6770"/>
                    </a:solidFill>
                  </a:rPr>
                  <a:t>· Energy &amp; freight proxy</a:t>
                </a:r>
                <a:endParaRPr lang="en-US" sz="1000" dirty="0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AF2D525-2B7C-DFCD-2A26-BD067460DCCA}"/>
                </a:ext>
              </a:extLst>
            </p:cNvPr>
            <p:cNvGrpSpPr/>
            <p:nvPr/>
          </p:nvGrpSpPr>
          <p:grpSpPr>
            <a:xfrm>
              <a:off x="7050024" y="3854196"/>
              <a:ext cx="4736592" cy="329184"/>
              <a:chOff x="7050024" y="2999232"/>
              <a:chExt cx="4736592" cy="329184"/>
            </a:xfrm>
          </p:grpSpPr>
          <p:sp>
            <p:nvSpPr>
              <p:cNvPr id="37" name="Shape 31"/>
              <p:cNvSpPr/>
              <p:nvPr/>
            </p:nvSpPr>
            <p:spPr>
              <a:xfrm>
                <a:off x="7050024" y="2999232"/>
                <a:ext cx="4736592" cy="329184"/>
              </a:xfrm>
              <a:prstGeom prst="roundRect">
                <a:avLst>
                  <a:gd name="adj" fmla="val 11111"/>
                </a:avLst>
              </a:prstGeom>
              <a:solidFill>
                <a:srgbClr val="F4F8FC"/>
              </a:solidFill>
              <a:ln/>
            </p:spPr>
          </p:sp>
          <p:pic>
            <p:nvPicPr>
              <p:cNvPr id="38" name="Image 4" descr="preencoded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1464" y="3054096"/>
                <a:ext cx="219456" cy="219456"/>
              </a:xfrm>
              <a:prstGeom prst="rect">
                <a:avLst/>
              </a:prstGeom>
            </p:spPr>
          </p:pic>
          <p:sp>
            <p:nvSpPr>
              <p:cNvPr id="39" name="Text 32"/>
              <p:cNvSpPr/>
              <p:nvPr/>
            </p:nvSpPr>
            <p:spPr>
              <a:xfrm>
                <a:off x="7434072" y="2999232"/>
                <a:ext cx="4352544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1A2733"/>
                    </a:solidFill>
                  </a:rPr>
                  <a:t>Steel scrap  </a:t>
                </a:r>
                <a:r>
                  <a:rPr lang="en-US" sz="1000" dirty="0">
                    <a:solidFill>
                      <a:srgbClr val="5B6770"/>
                    </a:solidFill>
                  </a:rPr>
                  <a:t>· Marginal-cost signal</a:t>
                </a:r>
                <a:endParaRPr lang="en-US" sz="1000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B467BD2-688D-6A4A-0516-092B5E24D4D6}"/>
                </a:ext>
              </a:extLst>
            </p:cNvPr>
            <p:cNvGrpSpPr/>
            <p:nvPr/>
          </p:nvGrpSpPr>
          <p:grpSpPr>
            <a:xfrm>
              <a:off x="7050024" y="4462272"/>
              <a:ext cx="4736592" cy="329184"/>
              <a:chOff x="7050024" y="3364992"/>
              <a:chExt cx="4736592" cy="329184"/>
            </a:xfrm>
          </p:grpSpPr>
          <p:sp>
            <p:nvSpPr>
              <p:cNvPr id="40" name="Shape 33"/>
              <p:cNvSpPr/>
              <p:nvPr/>
            </p:nvSpPr>
            <p:spPr>
              <a:xfrm>
                <a:off x="7050024" y="3364992"/>
                <a:ext cx="4736592" cy="329184"/>
              </a:xfrm>
              <a:prstGeom prst="roundRect">
                <a:avLst>
                  <a:gd name="adj" fmla="val 11111"/>
                </a:avLst>
              </a:prstGeom>
              <a:solidFill>
                <a:srgbClr val="F4F8FC"/>
              </a:solidFill>
              <a:ln/>
            </p:spPr>
          </p:sp>
          <p:pic>
            <p:nvPicPr>
              <p:cNvPr id="41" name="Image 5" descr="preencoded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41464" y="3419856"/>
                <a:ext cx="219456" cy="219456"/>
              </a:xfrm>
              <a:prstGeom prst="rect">
                <a:avLst/>
              </a:prstGeom>
            </p:spPr>
          </p:pic>
          <p:sp>
            <p:nvSpPr>
              <p:cNvPr id="42" name="Text 34"/>
              <p:cNvSpPr/>
              <p:nvPr/>
            </p:nvSpPr>
            <p:spPr>
              <a:xfrm>
                <a:off x="7434072" y="3364992"/>
                <a:ext cx="4352544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1A2733"/>
                    </a:solidFill>
                  </a:rPr>
                  <a:t>BDI · US bond yield  </a:t>
                </a:r>
                <a:r>
                  <a:rPr lang="en-US" sz="1000" dirty="0">
                    <a:solidFill>
                      <a:srgbClr val="5B6770"/>
                    </a:solidFill>
                  </a:rPr>
                  <a:t>· Demand &amp; macro context</a:t>
                </a:r>
                <a:endParaRPr lang="en-US" sz="1000" dirty="0"/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89B80C5-3214-6852-846F-6070D1B704AD}"/>
              </a:ext>
            </a:extLst>
          </p:cNvPr>
          <p:cNvGrpSpPr/>
          <p:nvPr/>
        </p:nvGrpSpPr>
        <p:grpSpPr>
          <a:xfrm>
            <a:off x="274320" y="5230368"/>
            <a:ext cx="11658600" cy="1353792"/>
            <a:chOff x="274320" y="5230368"/>
            <a:chExt cx="11658600" cy="1353792"/>
          </a:xfrm>
        </p:grpSpPr>
        <p:sp>
          <p:nvSpPr>
            <p:cNvPr id="43" name="Shape 35"/>
            <p:cNvSpPr/>
            <p:nvPr/>
          </p:nvSpPr>
          <p:spPr>
            <a:xfrm>
              <a:off x="274320" y="5230368"/>
              <a:ext cx="11658600" cy="1243584"/>
            </a:xfrm>
            <a:prstGeom prst="roundRect">
              <a:avLst>
                <a:gd name="adj" fmla="val 3676"/>
              </a:avLst>
            </a:prstGeom>
            <a:solidFill>
              <a:srgbClr val="00528E"/>
            </a:solidFill>
            <a:ln/>
          </p:spPr>
        </p:sp>
        <p:pic>
          <p:nvPicPr>
            <p:cNvPr id="44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4048" y="5383408"/>
              <a:ext cx="365760" cy="365760"/>
            </a:xfrm>
            <a:prstGeom prst="rect">
              <a:avLst/>
            </a:prstGeom>
          </p:spPr>
        </p:pic>
        <p:sp>
          <p:nvSpPr>
            <p:cNvPr id="45" name="Text 36"/>
            <p:cNvSpPr/>
            <p:nvPr/>
          </p:nvSpPr>
          <p:spPr>
            <a:xfrm>
              <a:off x="841728" y="5438272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A3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this means for pricing</a:t>
              </a:r>
              <a:endParaRPr lang="en-US" sz="1200" dirty="0"/>
            </a:p>
          </p:txBody>
        </p:sp>
        <p:sp>
          <p:nvSpPr>
            <p:cNvPr id="46" name="Text 37"/>
            <p:cNvSpPr/>
            <p:nvPr/>
          </p:nvSpPr>
          <p:spPr>
            <a:xfrm>
              <a:off x="438912" y="5852640"/>
              <a:ext cx="11329416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Because raw materials drive ~76% of the HRC price, the watch-list starts with iron ore and coking coal. When inputs move, the price will follow — so input costs are the first thing SPA should monitor for the Pricing Committee.</a:t>
              </a:r>
              <a:endParaRPr lang="en-US" sz="1200" dirty="0"/>
            </a:p>
          </p:txBody>
        </p:sp>
      </p:grpSp>
      <p:sp>
        <p:nvSpPr>
          <p:cNvPr id="47" name="Text 38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HRC dashboard — correlation tab (China module). Correlations on driver/HRC series.</a:t>
            </a:r>
            <a:endParaRPr lang="en-US" sz="7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EB34C53-0F62-2E0B-8AC8-AF427D6C03E8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00528E"/>
          </a:solidFill>
          <a:ln w="12700">
            <a:solidFill>
              <a:srgbClr val="0052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— Some Drivers Move First, and China Leads India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274320" y="1078992"/>
            <a:ext cx="1165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Lead-lag is computed on STL residuals (trend &amp; seasonality removed) to isolate true short-run transmission. Lead time = warning time.</a:t>
            </a:r>
            <a:endParaRPr lang="en-US" sz="115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25566EF-F6F5-DF72-6222-E593A1A72C5D}"/>
              </a:ext>
            </a:extLst>
          </p:cNvPr>
          <p:cNvGrpSpPr/>
          <p:nvPr/>
        </p:nvGrpSpPr>
        <p:grpSpPr>
          <a:xfrm>
            <a:off x="274320" y="1481328"/>
            <a:ext cx="6126480" cy="3256144"/>
            <a:chOff x="274320" y="1481328"/>
            <a:chExt cx="6126480" cy="3256144"/>
          </a:xfrm>
        </p:grpSpPr>
        <p:sp>
          <p:nvSpPr>
            <p:cNvPr id="19" name="Shape 17"/>
            <p:cNvSpPr/>
            <p:nvPr/>
          </p:nvSpPr>
          <p:spPr>
            <a:xfrm>
              <a:off x="274320" y="1481328"/>
              <a:ext cx="6126480" cy="3256144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274320" y="1481328"/>
              <a:ext cx="612648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274320" y="1645920"/>
              <a:ext cx="612648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274320" y="1481328"/>
              <a:ext cx="61264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Lead-lag: driver co-movement with HRC (−6…+6 m)</a:t>
              </a:r>
              <a:endParaRPr lang="en-US" sz="1200" dirty="0"/>
            </a:p>
          </p:txBody>
        </p:sp>
        <p:pic>
          <p:nvPicPr>
            <p:cNvPr id="23" name="Image 0" descr="shots/image19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62" y="2148839"/>
              <a:ext cx="5998582" cy="2188465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B51D849-1D9E-C0B8-5ADA-32C1FF6B9A79}"/>
              </a:ext>
            </a:extLst>
          </p:cNvPr>
          <p:cNvGrpSpPr/>
          <p:nvPr/>
        </p:nvGrpSpPr>
        <p:grpSpPr>
          <a:xfrm>
            <a:off x="274320" y="4947344"/>
            <a:ext cx="6126480" cy="1526608"/>
            <a:chOff x="274320" y="3931920"/>
            <a:chExt cx="6126480" cy="1526608"/>
          </a:xfrm>
        </p:grpSpPr>
        <p:sp>
          <p:nvSpPr>
            <p:cNvPr id="24" name="Shape 21"/>
            <p:cNvSpPr/>
            <p:nvPr/>
          </p:nvSpPr>
          <p:spPr>
            <a:xfrm>
              <a:off x="274320" y="3931920"/>
              <a:ext cx="6126480" cy="1444752"/>
            </a:xfrm>
            <a:prstGeom prst="roundRect">
              <a:avLst>
                <a:gd name="adj" fmla="val 1894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2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8912" y="4087368"/>
              <a:ext cx="292608" cy="292608"/>
            </a:xfrm>
            <a:prstGeom prst="rect">
              <a:avLst/>
            </a:prstGeom>
          </p:spPr>
        </p:pic>
        <p:sp>
          <p:nvSpPr>
            <p:cNvPr id="26" name="Text 22"/>
            <p:cNvSpPr/>
            <p:nvPr/>
          </p:nvSpPr>
          <p:spPr>
            <a:xfrm>
              <a:off x="822960" y="4118163"/>
              <a:ext cx="53949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Leading is not causing.</a:t>
              </a:r>
              <a:endParaRPr lang="en-US" sz="1200" dirty="0"/>
            </a:p>
          </p:txBody>
        </p:sp>
        <p:sp>
          <p:nvSpPr>
            <p:cNvPr id="27" name="Text 23"/>
            <p:cNvSpPr/>
            <p:nvPr/>
          </p:nvSpPr>
          <p:spPr>
            <a:xfrm>
              <a:off x="438912" y="4544128"/>
              <a:ext cx="5797296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Positive lag = the driver moves first and HRC follows (a leading indicator). We say “tends to lead” and “historically precedes” — never “predicts.”</a:t>
              </a:r>
              <a:endParaRPr lang="en-US" sz="12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6C6DD6A-5C17-42C9-4A75-8285D2AFFC9E}"/>
              </a:ext>
            </a:extLst>
          </p:cNvPr>
          <p:cNvGrpSpPr/>
          <p:nvPr/>
        </p:nvGrpSpPr>
        <p:grpSpPr>
          <a:xfrm>
            <a:off x="6629400" y="5019736"/>
            <a:ext cx="5303520" cy="1371600"/>
            <a:chOff x="6629400" y="1481328"/>
            <a:chExt cx="5303520" cy="1371600"/>
          </a:xfrm>
        </p:grpSpPr>
        <p:sp>
          <p:nvSpPr>
            <p:cNvPr id="28" name="Shape 24"/>
            <p:cNvSpPr/>
            <p:nvPr/>
          </p:nvSpPr>
          <p:spPr>
            <a:xfrm>
              <a:off x="6629400" y="1481328"/>
              <a:ext cx="5303520" cy="13716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9" name="Shape 25"/>
            <p:cNvSpPr/>
            <p:nvPr/>
          </p:nvSpPr>
          <p:spPr>
            <a:xfrm>
              <a:off x="6629400" y="1481328"/>
              <a:ext cx="530352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30" name="Shape 26"/>
            <p:cNvSpPr/>
            <p:nvPr/>
          </p:nvSpPr>
          <p:spPr>
            <a:xfrm>
              <a:off x="6629400" y="1645920"/>
              <a:ext cx="530352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31" name="Text 27"/>
            <p:cNvSpPr/>
            <p:nvPr/>
          </p:nvSpPr>
          <p:spPr>
            <a:xfrm>
              <a:off x="6629400" y="1481328"/>
              <a:ext cx="53035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headline linkage</a:t>
              </a:r>
              <a:endParaRPr lang="en-US" sz="1200" dirty="0"/>
            </a:p>
          </p:txBody>
        </p:sp>
        <p:sp>
          <p:nvSpPr>
            <p:cNvPr id="32" name="Shape 28"/>
            <p:cNvSpPr/>
            <p:nvPr/>
          </p:nvSpPr>
          <p:spPr>
            <a:xfrm>
              <a:off x="6812280" y="1938528"/>
              <a:ext cx="1463040" cy="713232"/>
            </a:xfrm>
            <a:prstGeom prst="roundRect">
              <a:avLst>
                <a:gd name="adj" fmla="val 6410"/>
              </a:avLst>
            </a:prstGeom>
            <a:solidFill>
              <a:srgbClr val="00528E"/>
            </a:solidFill>
            <a:ln/>
          </p:spPr>
        </p:sp>
        <p:sp>
          <p:nvSpPr>
            <p:cNvPr id="33" name="Text 29"/>
            <p:cNvSpPr/>
            <p:nvPr/>
          </p:nvSpPr>
          <p:spPr>
            <a:xfrm>
              <a:off x="6812280" y="1938528"/>
              <a:ext cx="146304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CHINA
</a:t>
              </a:r>
              <a:r>
                <a:rPr lang="en-US" sz="1000" dirty="0">
                  <a:solidFill>
                    <a:srgbClr val="CFE6F7"/>
                  </a:solidFill>
                </a:rPr>
                <a:t>moves first</a:t>
              </a:r>
              <a:endParaRPr lang="en-US" sz="1000" dirty="0"/>
            </a:p>
          </p:txBody>
        </p:sp>
        <p:sp>
          <p:nvSpPr>
            <p:cNvPr id="34" name="Shape 30"/>
            <p:cNvSpPr/>
            <p:nvPr/>
          </p:nvSpPr>
          <p:spPr>
            <a:xfrm>
              <a:off x="8412480" y="2084832"/>
              <a:ext cx="868680" cy="420624"/>
            </a:xfrm>
            <a:prstGeom prst="chevron">
              <a:avLst/>
            </a:prstGeom>
            <a:solidFill>
              <a:srgbClr val="F5A300"/>
            </a:solidFill>
            <a:ln/>
          </p:spPr>
        </p:sp>
        <p:sp>
          <p:nvSpPr>
            <p:cNvPr id="35" name="Text 31"/>
            <p:cNvSpPr/>
            <p:nvPr/>
          </p:nvSpPr>
          <p:spPr>
            <a:xfrm>
              <a:off x="8412480" y="208483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+1 m</a:t>
              </a:r>
              <a:endParaRPr lang="en-US" sz="1000" dirty="0"/>
            </a:p>
          </p:txBody>
        </p:sp>
        <p:sp>
          <p:nvSpPr>
            <p:cNvPr id="36" name="Shape 32"/>
            <p:cNvSpPr/>
            <p:nvPr/>
          </p:nvSpPr>
          <p:spPr>
            <a:xfrm>
              <a:off x="9418320" y="1938528"/>
              <a:ext cx="1463040" cy="713232"/>
            </a:xfrm>
            <a:prstGeom prst="roundRect">
              <a:avLst>
                <a:gd name="adj" fmla="val 6410"/>
              </a:avLst>
            </a:prstGeom>
            <a:solidFill>
              <a:srgbClr val="0071C1"/>
            </a:solidFill>
            <a:ln/>
          </p:spPr>
        </p:sp>
        <p:sp>
          <p:nvSpPr>
            <p:cNvPr id="37" name="Text 33"/>
            <p:cNvSpPr/>
            <p:nvPr/>
          </p:nvSpPr>
          <p:spPr>
            <a:xfrm>
              <a:off x="9418320" y="1938528"/>
              <a:ext cx="146304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INDIA
</a:t>
              </a:r>
              <a:r>
                <a:rPr lang="en-US" sz="1000" dirty="0">
                  <a:solidFill>
                    <a:srgbClr val="DCEBF7"/>
                  </a:solidFill>
                </a:rPr>
                <a:t>follows</a:t>
              </a:r>
              <a:endParaRPr lang="en-US" sz="1000" dirty="0"/>
            </a:p>
          </p:txBody>
        </p:sp>
        <p:sp>
          <p:nvSpPr>
            <p:cNvPr id="38" name="Text 34"/>
            <p:cNvSpPr/>
            <p:nvPr/>
          </p:nvSpPr>
          <p:spPr>
            <a:xfrm>
              <a:off x="10972800" y="1938528"/>
              <a:ext cx="822960" cy="7132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 ≈ 0.59</a:t>
              </a:r>
              <a:endParaRPr lang="en-US" sz="11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06CB981-22FB-9CF6-7BD9-59BBE4ED1E72}"/>
              </a:ext>
            </a:extLst>
          </p:cNvPr>
          <p:cNvGrpSpPr/>
          <p:nvPr/>
        </p:nvGrpSpPr>
        <p:grpSpPr>
          <a:xfrm>
            <a:off x="6629400" y="1480568"/>
            <a:ext cx="5303520" cy="3383280"/>
            <a:chOff x="6629400" y="2962656"/>
            <a:chExt cx="5303520" cy="3383280"/>
          </a:xfrm>
        </p:grpSpPr>
        <p:sp>
          <p:nvSpPr>
            <p:cNvPr id="39" name="Shape 35"/>
            <p:cNvSpPr/>
            <p:nvPr/>
          </p:nvSpPr>
          <p:spPr>
            <a:xfrm>
              <a:off x="6629400" y="2962656"/>
              <a:ext cx="5303520" cy="1072896"/>
            </a:xfrm>
            <a:prstGeom prst="roundRect">
              <a:avLst>
                <a:gd name="adj" fmla="val 4261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0" name="Text 36"/>
            <p:cNvSpPr/>
            <p:nvPr/>
          </p:nvSpPr>
          <p:spPr>
            <a:xfrm>
              <a:off x="6757416" y="2999232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China ↔ India · corr 0.59</a:t>
              </a:r>
              <a:endParaRPr lang="en-US" sz="1000" dirty="0"/>
            </a:p>
          </p:txBody>
        </p:sp>
        <p:pic>
          <p:nvPicPr>
            <p:cNvPr id="41" name="Image 2" descr="shots/image27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26780" y="3141727"/>
              <a:ext cx="2697480" cy="714754"/>
            </a:xfrm>
            <a:prstGeom prst="rect">
              <a:avLst/>
            </a:prstGeom>
          </p:spPr>
        </p:pic>
        <p:sp>
          <p:nvSpPr>
            <p:cNvPr id="42" name="Shape 37"/>
            <p:cNvSpPr/>
            <p:nvPr/>
          </p:nvSpPr>
          <p:spPr>
            <a:xfrm>
              <a:off x="6629400" y="4117848"/>
              <a:ext cx="5303520" cy="1072896"/>
            </a:xfrm>
            <a:prstGeom prst="roundRect">
              <a:avLst>
                <a:gd name="adj" fmla="val 4261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3" name="Text 38"/>
            <p:cNvSpPr/>
            <p:nvPr/>
          </p:nvSpPr>
          <p:spPr>
            <a:xfrm>
              <a:off x="6757416" y="4154424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China ↔ US · corr 0.48</a:t>
              </a:r>
              <a:endParaRPr lang="en-US" sz="1000" dirty="0"/>
            </a:p>
          </p:txBody>
        </p:sp>
        <p:pic>
          <p:nvPicPr>
            <p:cNvPr id="44" name="Image 3" descr="shots/image28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526780" y="4296919"/>
              <a:ext cx="2697480" cy="714754"/>
            </a:xfrm>
            <a:prstGeom prst="rect">
              <a:avLst/>
            </a:prstGeom>
          </p:spPr>
        </p:pic>
        <p:sp>
          <p:nvSpPr>
            <p:cNvPr id="45" name="Shape 39"/>
            <p:cNvSpPr/>
            <p:nvPr/>
          </p:nvSpPr>
          <p:spPr>
            <a:xfrm>
              <a:off x="6629400" y="5273040"/>
              <a:ext cx="5303520" cy="1072896"/>
            </a:xfrm>
            <a:prstGeom prst="roundRect">
              <a:avLst>
                <a:gd name="adj" fmla="val 4261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6" name="Text 40"/>
            <p:cNvSpPr/>
            <p:nvPr/>
          </p:nvSpPr>
          <p:spPr>
            <a:xfrm>
              <a:off x="6757416" y="5309616"/>
              <a:ext cx="23774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 ↔ US · corr 0.48</a:t>
              </a:r>
              <a:endParaRPr lang="en-US" sz="1000" dirty="0"/>
            </a:p>
          </p:txBody>
        </p:sp>
        <p:pic>
          <p:nvPicPr>
            <p:cNvPr id="47" name="Image 4" descr="shots/image29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26780" y="5452111"/>
              <a:ext cx="2697480" cy="714754"/>
            </a:xfrm>
            <a:prstGeom prst="rect">
              <a:avLst/>
            </a:prstGeom>
          </p:spPr>
        </p:pic>
      </p:grpSp>
      <p:sp>
        <p:nvSpPr>
          <p:cNvPr id="48" name="Text 41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HRC dashboard — lead-lag &amp; cross-region tabs. CCF on STL residuals; pairwise correlations on returns (currency-neutral), 86–123 month overlaps.</a:t>
            </a:r>
            <a:endParaRPr lang="en-US" sz="7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A1653A3-5C5A-6048-E565-97A53CD7A1F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00528E"/>
          </a:solidFill>
          <a:ln w="12700">
            <a:solidFill>
              <a:srgbClr val="0052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Deep-Dive — Watching the Engine Work (Ukraine, Feb 2022)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274320" y="1078992"/>
            <a:ext cx="1165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backward-looking: what moved, why, and how it transmitted into India — a validation that the framework explains real history.</a:t>
            </a:r>
            <a:endParaRPr lang="en-US" sz="115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743F92-297A-FE8B-0C6D-48B3894A5BF2}"/>
              </a:ext>
            </a:extLst>
          </p:cNvPr>
          <p:cNvGrpSpPr/>
          <p:nvPr/>
        </p:nvGrpSpPr>
        <p:grpSpPr>
          <a:xfrm>
            <a:off x="274320" y="1700784"/>
            <a:ext cx="5943600" cy="2286000"/>
            <a:chOff x="274320" y="1700784"/>
            <a:chExt cx="5943600" cy="2286000"/>
          </a:xfrm>
        </p:grpSpPr>
        <p:sp>
          <p:nvSpPr>
            <p:cNvPr id="19" name="Shape 17"/>
            <p:cNvSpPr/>
            <p:nvPr/>
          </p:nvSpPr>
          <p:spPr>
            <a:xfrm>
              <a:off x="274320" y="1700784"/>
              <a:ext cx="5943600" cy="22860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274320" y="1700784"/>
              <a:ext cx="594360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274320" y="1865376"/>
              <a:ext cx="594360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274320" y="1700784"/>
              <a:ext cx="5943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HRC around the shock — Feb 2022 marked</a:t>
              </a:r>
              <a:endParaRPr lang="en-US" sz="1200" dirty="0"/>
            </a:p>
          </p:txBody>
        </p:sp>
        <p:pic>
          <p:nvPicPr>
            <p:cNvPr id="23" name="Image 0" descr="shots/image37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4690" y="2066544"/>
              <a:ext cx="5502859" cy="1828800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8BE718-B995-E6EA-246D-0CB8269E6790}"/>
              </a:ext>
            </a:extLst>
          </p:cNvPr>
          <p:cNvGrpSpPr/>
          <p:nvPr/>
        </p:nvGrpSpPr>
        <p:grpSpPr>
          <a:xfrm>
            <a:off x="274320" y="4105656"/>
            <a:ext cx="5943600" cy="2002536"/>
            <a:chOff x="274320" y="4105656"/>
            <a:chExt cx="5943600" cy="2002536"/>
          </a:xfrm>
        </p:grpSpPr>
        <p:sp>
          <p:nvSpPr>
            <p:cNvPr id="24" name="Shape 21"/>
            <p:cNvSpPr/>
            <p:nvPr/>
          </p:nvSpPr>
          <p:spPr>
            <a:xfrm>
              <a:off x="274320" y="4105656"/>
              <a:ext cx="5943600" cy="2002536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" name="Text 22"/>
            <p:cNvSpPr/>
            <p:nvPr/>
          </p:nvSpPr>
          <p:spPr>
            <a:xfrm>
              <a:off x="438912" y="4323841"/>
              <a:ext cx="56144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E8B5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SUPPLY SHOCK — lifted prices, briefly</a:t>
              </a:r>
              <a:endParaRPr lang="en-US" sz="1200" dirty="0"/>
            </a:p>
          </p:txBody>
        </p:sp>
        <p:sp>
          <p:nvSpPr>
            <p:cNvPr id="26" name="Text 23"/>
            <p:cNvSpPr/>
            <p:nvPr/>
          </p:nvSpPr>
          <p:spPr>
            <a:xfrm>
              <a:off x="438912" y="4543297"/>
              <a:ext cx="561441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Russia: major energy, coal &amp; pig-iron supplier. Ukraine output −68% (Azovstal, Ilyich halted). Inputs spiked → brief HRC lift.</a:t>
              </a:r>
              <a:endParaRPr lang="en-US" sz="12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438912" y="5202819"/>
              <a:ext cx="56144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DEMAND FORCE — won out, medium term</a:t>
              </a:r>
              <a:endParaRPr lang="en-US" sz="12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438912" y="5422275"/>
              <a:ext cx="561441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Energy costs fed inflation → central banks hiked; China property slowdown rolled on. Demand won → HRC followed costs back down.</a:t>
              </a:r>
              <a:endParaRPr lang="en-US" sz="12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BF2AE19-5BE5-905E-A5BE-09A1EE80E124}"/>
              </a:ext>
            </a:extLst>
          </p:cNvPr>
          <p:cNvGrpSpPr/>
          <p:nvPr/>
        </p:nvGrpSpPr>
        <p:grpSpPr>
          <a:xfrm>
            <a:off x="6446520" y="1700784"/>
            <a:ext cx="5745480" cy="4407408"/>
            <a:chOff x="6446520" y="1700784"/>
            <a:chExt cx="5745480" cy="4407408"/>
          </a:xfrm>
        </p:grpSpPr>
        <p:sp>
          <p:nvSpPr>
            <p:cNvPr id="29" name="Shape 26"/>
            <p:cNvSpPr/>
            <p:nvPr/>
          </p:nvSpPr>
          <p:spPr>
            <a:xfrm>
              <a:off x="6446520" y="1700784"/>
              <a:ext cx="5486400" cy="4407408"/>
            </a:xfrm>
            <a:prstGeom prst="roundRect">
              <a:avLst>
                <a:gd name="adj" fmla="val 1272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0" name="Shape 27"/>
            <p:cNvSpPr/>
            <p:nvPr/>
          </p:nvSpPr>
          <p:spPr>
            <a:xfrm>
              <a:off x="6446520" y="1700784"/>
              <a:ext cx="548640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31" name="Shape 28"/>
            <p:cNvSpPr/>
            <p:nvPr/>
          </p:nvSpPr>
          <p:spPr>
            <a:xfrm>
              <a:off x="6446520" y="1865376"/>
              <a:ext cx="548640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32" name="Text 29"/>
            <p:cNvSpPr/>
            <p:nvPr/>
          </p:nvSpPr>
          <p:spPr>
            <a:xfrm>
              <a:off x="6446520" y="1700784"/>
              <a:ext cx="54864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India channel — hit from both sides</a:t>
              </a:r>
              <a:endParaRPr lang="en-US" sz="1200" dirty="0"/>
            </a:p>
          </p:txBody>
        </p:sp>
        <p:sp>
          <p:nvSpPr>
            <p:cNvPr id="33" name="Shape 30"/>
            <p:cNvSpPr/>
            <p:nvPr/>
          </p:nvSpPr>
          <p:spPr>
            <a:xfrm>
              <a:off x="6611112" y="2157984"/>
              <a:ext cx="5157216" cy="1078992"/>
            </a:xfrm>
            <a:prstGeom prst="roundRect">
              <a:avLst>
                <a:gd name="adj" fmla="val 4237"/>
              </a:avLst>
            </a:prstGeom>
            <a:solidFill>
              <a:srgbClr val="EAF3FB"/>
            </a:solidFill>
            <a:ln/>
          </p:spPr>
        </p:sp>
        <p:pic>
          <p:nvPicPr>
            <p:cNvPr id="34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57416" y="2322576"/>
              <a:ext cx="365760" cy="365760"/>
            </a:xfrm>
            <a:prstGeom prst="rect">
              <a:avLst/>
            </a:prstGeom>
          </p:spPr>
        </p:pic>
        <p:sp>
          <p:nvSpPr>
            <p:cNvPr id="35" name="Text 31"/>
            <p:cNvSpPr/>
            <p:nvPr/>
          </p:nvSpPr>
          <p:spPr>
            <a:xfrm>
              <a:off x="7251192" y="2267712"/>
              <a:ext cx="4480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~85%</a:t>
              </a:r>
              <a:endParaRPr lang="en-US" sz="1600" dirty="0"/>
            </a:p>
          </p:txBody>
        </p:sp>
        <p:sp>
          <p:nvSpPr>
            <p:cNvPr id="36" name="Text 32"/>
            <p:cNvSpPr/>
            <p:nvPr/>
          </p:nvSpPr>
          <p:spPr>
            <a:xfrm>
              <a:off x="7254240" y="2670048"/>
              <a:ext cx="49377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733"/>
                  </a:solidFill>
                </a:rPr>
                <a:t>of India's coking coal is imported  </a:t>
              </a:r>
              <a:r>
                <a:rPr lang="en-US" sz="1000" dirty="0">
                  <a:solidFill>
                    <a:srgbClr val="5B6770"/>
                  </a:solidFill>
                </a:rPr>
                <a:t>— Coal spike fed straight into mill costs</a:t>
              </a:r>
              <a:endParaRPr lang="en-US" sz="1000" dirty="0"/>
            </a:p>
          </p:txBody>
        </p:sp>
        <p:sp>
          <p:nvSpPr>
            <p:cNvPr id="37" name="Shape 33"/>
            <p:cNvSpPr/>
            <p:nvPr/>
          </p:nvSpPr>
          <p:spPr>
            <a:xfrm>
              <a:off x="6611112" y="3346704"/>
              <a:ext cx="5157216" cy="1078992"/>
            </a:xfrm>
            <a:prstGeom prst="roundRect">
              <a:avLst>
                <a:gd name="adj" fmla="val 4237"/>
              </a:avLst>
            </a:prstGeom>
            <a:solidFill>
              <a:srgbClr val="EAF3FB"/>
            </a:solidFill>
            <a:ln/>
          </p:spPr>
        </p:sp>
        <p:pic>
          <p:nvPicPr>
            <p:cNvPr id="3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7416" y="3511296"/>
              <a:ext cx="365760" cy="365760"/>
            </a:xfrm>
            <a:prstGeom prst="rect">
              <a:avLst/>
            </a:prstGeom>
          </p:spPr>
        </p:pic>
        <p:sp>
          <p:nvSpPr>
            <p:cNvPr id="39" name="Text 34"/>
            <p:cNvSpPr/>
            <p:nvPr/>
          </p:nvSpPr>
          <p:spPr>
            <a:xfrm>
              <a:off x="7251192" y="3456432"/>
              <a:ext cx="4480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+₹5,000/t</a:t>
              </a:r>
              <a:endParaRPr lang="en-US" sz="1600" dirty="0"/>
            </a:p>
          </p:txBody>
        </p:sp>
        <p:sp>
          <p:nvSpPr>
            <p:cNvPr id="40" name="Text 35"/>
            <p:cNvSpPr/>
            <p:nvPr/>
          </p:nvSpPr>
          <p:spPr>
            <a:xfrm>
              <a:off x="7254240" y="3858768"/>
              <a:ext cx="493776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733"/>
                  </a:solidFill>
                </a:rPr>
                <a:t>domestic HRC &amp; TMT price rises  </a:t>
              </a:r>
              <a:r>
                <a:rPr lang="en-US" sz="1000" dirty="0">
                  <a:solidFill>
                    <a:srgbClr val="5B6770"/>
                  </a:solidFill>
                </a:rPr>
                <a:t>— Indian mills raised prices, early Mar 2022</a:t>
              </a:r>
              <a:endParaRPr lang="en-US" sz="1000" dirty="0"/>
            </a:p>
          </p:txBody>
        </p:sp>
        <p:sp>
          <p:nvSpPr>
            <p:cNvPr id="41" name="Shape 36"/>
            <p:cNvSpPr/>
            <p:nvPr/>
          </p:nvSpPr>
          <p:spPr>
            <a:xfrm>
              <a:off x="6611112" y="4535424"/>
              <a:ext cx="5157216" cy="1078992"/>
            </a:xfrm>
            <a:prstGeom prst="roundRect">
              <a:avLst>
                <a:gd name="adj" fmla="val 4237"/>
              </a:avLst>
            </a:prstGeom>
            <a:solidFill>
              <a:srgbClr val="EAF3FB"/>
            </a:solidFill>
            <a:ln/>
          </p:spPr>
        </p:sp>
        <p:pic>
          <p:nvPicPr>
            <p:cNvPr id="42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57416" y="4700016"/>
              <a:ext cx="365760" cy="365760"/>
            </a:xfrm>
            <a:prstGeom prst="rect">
              <a:avLst/>
            </a:prstGeom>
          </p:spPr>
        </p:pic>
        <p:sp>
          <p:nvSpPr>
            <p:cNvPr id="43" name="Text 37"/>
            <p:cNvSpPr/>
            <p:nvPr/>
          </p:nvSpPr>
          <p:spPr>
            <a:xfrm>
              <a:off x="7251192" y="4645152"/>
              <a:ext cx="4480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May 2022</a:t>
              </a:r>
              <a:endParaRPr lang="en-US" sz="1600" dirty="0"/>
            </a:p>
          </p:txBody>
        </p:sp>
        <p:sp>
          <p:nvSpPr>
            <p:cNvPr id="44" name="Text 38"/>
            <p:cNvSpPr/>
            <p:nvPr/>
          </p:nvSpPr>
          <p:spPr>
            <a:xfrm>
              <a:off x="7254240" y="5047488"/>
              <a:ext cx="4477512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A2733"/>
                  </a:solidFill>
                </a:rPr>
                <a:t>steel export duty imposed  </a:t>
              </a:r>
              <a:r>
                <a:rPr lang="en-US" sz="1000" dirty="0">
                  <a:solidFill>
                    <a:srgbClr val="5B6770"/>
                  </a:solidFill>
                </a:rPr>
                <a:t>— Redirected supply inward; weighed on Indian HRC into mid-2022</a:t>
              </a:r>
              <a:endParaRPr lang="en-US" sz="1000" dirty="0"/>
            </a:p>
          </p:txBody>
        </p:sp>
        <p:sp>
          <p:nvSpPr>
            <p:cNvPr id="45" name="Text 39"/>
            <p:cNvSpPr/>
            <p:nvPr/>
          </p:nvSpPr>
          <p:spPr>
            <a:xfrm>
              <a:off x="6611112" y="5742432"/>
              <a:ext cx="515721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global event, transmitted directly into our own costs</a:t>
              </a:r>
              <a:endParaRPr lang="en-US" sz="900" dirty="0"/>
            </a:p>
          </p:txBody>
        </p:sp>
      </p:grpSp>
      <p:sp>
        <p:nvSpPr>
          <p:cNvPr id="46" name="Text 40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HRC dashboard — event deep-dive tab; sourced, dated market context (coking coal, export duty). Backward-looking analysis only.</a:t>
            </a:r>
            <a:endParaRPr lang="en-US" sz="7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B730E29-6905-2A0E-2583-2A887B3303A1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00528E"/>
          </a:solidFill>
          <a:ln w="12700">
            <a:solidFill>
              <a:srgbClr val="0052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Regimes, Cycles &amp; Looking Forward — Honestly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274320" y="1078992"/>
            <a:ext cx="1165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data discovered moods; forecasts are directional inputs with wide bands.</a:t>
            </a:r>
            <a:endParaRPr lang="en-US" sz="115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FEA8ABE-5430-E4F9-9D6C-EC8614103E2E}"/>
              </a:ext>
            </a:extLst>
          </p:cNvPr>
          <p:cNvGrpSpPr/>
          <p:nvPr/>
        </p:nvGrpSpPr>
        <p:grpSpPr>
          <a:xfrm>
            <a:off x="6537960" y="1681917"/>
            <a:ext cx="5394960" cy="4312766"/>
            <a:chOff x="6537960" y="1463039"/>
            <a:chExt cx="5394960" cy="4312766"/>
          </a:xfrm>
        </p:grpSpPr>
        <p:sp>
          <p:nvSpPr>
            <p:cNvPr id="34" name="Shape 31"/>
            <p:cNvSpPr/>
            <p:nvPr/>
          </p:nvSpPr>
          <p:spPr>
            <a:xfrm>
              <a:off x="6537960" y="1463039"/>
              <a:ext cx="5394960" cy="2048255"/>
            </a:xfrm>
            <a:prstGeom prst="roundRect">
              <a:avLst>
                <a:gd name="adj" fmla="val 2874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5" name="Shape 32"/>
            <p:cNvSpPr/>
            <p:nvPr/>
          </p:nvSpPr>
          <p:spPr>
            <a:xfrm>
              <a:off x="6537960" y="1463040"/>
              <a:ext cx="539496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36" name="Shape 33"/>
            <p:cNvSpPr/>
            <p:nvPr/>
          </p:nvSpPr>
          <p:spPr>
            <a:xfrm>
              <a:off x="6537960" y="1627632"/>
              <a:ext cx="539496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37" name="Text 34"/>
            <p:cNvSpPr/>
            <p:nvPr/>
          </p:nvSpPr>
          <p:spPr>
            <a:xfrm>
              <a:off x="6537960" y="1463040"/>
              <a:ext cx="539496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ARIMAX forecast</a:t>
              </a:r>
              <a:endParaRPr lang="en-US" sz="1200" dirty="0"/>
            </a:p>
          </p:txBody>
        </p:sp>
        <p:pic>
          <p:nvPicPr>
            <p:cNvPr id="38" name="Image 1" descr="shots/image49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11579" y="1837942"/>
              <a:ext cx="2896301" cy="1538131"/>
            </a:xfrm>
            <a:prstGeom prst="rect">
              <a:avLst/>
            </a:prstGeom>
          </p:spPr>
        </p:pic>
        <p:sp>
          <p:nvSpPr>
            <p:cNvPr id="39" name="Shape 35"/>
            <p:cNvSpPr/>
            <p:nvPr/>
          </p:nvSpPr>
          <p:spPr>
            <a:xfrm>
              <a:off x="10149840" y="1883664"/>
              <a:ext cx="1627632" cy="329184"/>
            </a:xfrm>
            <a:prstGeom prst="roundRect">
              <a:avLst>
                <a:gd name="adj" fmla="val 11111"/>
              </a:avLst>
            </a:prstGeom>
            <a:solidFill>
              <a:srgbClr val="EAF3FB"/>
            </a:solidFill>
            <a:ln/>
          </p:spPr>
        </p:sp>
        <p:sp>
          <p:nvSpPr>
            <p:cNvPr id="40" name="Text 36"/>
            <p:cNvSpPr/>
            <p:nvPr/>
          </p:nvSpPr>
          <p:spPr>
            <a:xfrm>
              <a:off x="10149840" y="1883664"/>
              <a:ext cx="16276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MAPE 4.41%</a:t>
              </a:r>
              <a:endParaRPr lang="en-US" sz="1000" dirty="0"/>
            </a:p>
          </p:txBody>
        </p:sp>
        <p:sp>
          <p:nvSpPr>
            <p:cNvPr id="41" name="Shape 37"/>
            <p:cNvSpPr/>
            <p:nvPr/>
          </p:nvSpPr>
          <p:spPr>
            <a:xfrm>
              <a:off x="10149840" y="2249424"/>
              <a:ext cx="1627632" cy="329184"/>
            </a:xfrm>
            <a:prstGeom prst="roundRect">
              <a:avLst>
                <a:gd name="adj" fmla="val 11111"/>
              </a:avLst>
            </a:prstGeom>
            <a:solidFill>
              <a:srgbClr val="EAF3FB"/>
            </a:solidFill>
            <a:ln/>
          </p:spPr>
        </p:sp>
        <p:sp>
          <p:nvSpPr>
            <p:cNvPr id="42" name="Text 38"/>
            <p:cNvSpPr/>
            <p:nvPr/>
          </p:nvSpPr>
          <p:spPr>
            <a:xfrm>
              <a:off x="10149840" y="2249424"/>
              <a:ext cx="16276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RMSE $39/t</a:t>
              </a:r>
              <a:endParaRPr lang="en-US" sz="1000" dirty="0"/>
            </a:p>
          </p:txBody>
        </p:sp>
        <p:sp>
          <p:nvSpPr>
            <p:cNvPr id="43" name="Shape 39"/>
            <p:cNvSpPr/>
            <p:nvPr/>
          </p:nvSpPr>
          <p:spPr>
            <a:xfrm>
              <a:off x="10149840" y="2615184"/>
              <a:ext cx="1627632" cy="329184"/>
            </a:xfrm>
            <a:prstGeom prst="roundRect">
              <a:avLst>
                <a:gd name="adj" fmla="val 11111"/>
              </a:avLst>
            </a:prstGeom>
            <a:solidFill>
              <a:srgbClr val="EAF3FB"/>
            </a:solidFill>
            <a:ln/>
          </p:spPr>
        </p:sp>
        <p:sp>
          <p:nvSpPr>
            <p:cNvPr id="44" name="Text 40"/>
            <p:cNvSpPr/>
            <p:nvPr/>
          </p:nvSpPr>
          <p:spPr>
            <a:xfrm>
              <a:off x="10149840" y="2615184"/>
              <a:ext cx="16276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R² 0.917</a:t>
              </a:r>
              <a:endParaRPr lang="en-US" sz="10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76EA45F-6615-91E6-3C5F-B230EA517C09}"/>
                </a:ext>
              </a:extLst>
            </p:cNvPr>
            <p:cNvGrpSpPr/>
            <p:nvPr/>
          </p:nvGrpSpPr>
          <p:grpSpPr>
            <a:xfrm>
              <a:off x="6537960" y="3727549"/>
              <a:ext cx="5394960" cy="2048256"/>
              <a:chOff x="6537960" y="3182112"/>
              <a:chExt cx="5394960" cy="2048256"/>
            </a:xfrm>
          </p:grpSpPr>
          <p:sp>
            <p:nvSpPr>
              <p:cNvPr id="45" name="Shape 41"/>
              <p:cNvSpPr/>
              <p:nvPr/>
            </p:nvSpPr>
            <p:spPr>
              <a:xfrm>
                <a:off x="6537960" y="3182112"/>
                <a:ext cx="5394960" cy="2048256"/>
              </a:xfrm>
              <a:prstGeom prst="roundRect">
                <a:avLst>
                  <a:gd name="adj" fmla="val 2874"/>
                </a:avLst>
              </a:prstGeom>
              <a:solidFill>
                <a:srgbClr val="FFFFFF"/>
              </a:solidFill>
              <a:ln w="12700">
                <a:solidFill>
                  <a:srgbClr val="CFE0EF"/>
                </a:solidFill>
                <a:prstDash val="solid"/>
              </a:ln>
              <a:effectLst>
                <a:outerShdw blurRad="63500" dist="25400" dir="54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46" name="Shape 42"/>
              <p:cNvSpPr/>
              <p:nvPr/>
            </p:nvSpPr>
            <p:spPr>
              <a:xfrm>
                <a:off x="6537960" y="3182112"/>
                <a:ext cx="5394960" cy="329184"/>
              </a:xfrm>
              <a:prstGeom prst="roundRect">
                <a:avLst>
                  <a:gd name="adj" fmla="val 13889"/>
                </a:avLst>
              </a:prstGeom>
              <a:solidFill>
                <a:srgbClr val="0071C1"/>
              </a:solidFill>
              <a:ln/>
            </p:spPr>
          </p:sp>
          <p:sp>
            <p:nvSpPr>
              <p:cNvPr id="47" name="Shape 43"/>
              <p:cNvSpPr/>
              <p:nvPr/>
            </p:nvSpPr>
            <p:spPr>
              <a:xfrm>
                <a:off x="6537960" y="3346704"/>
                <a:ext cx="5394960" cy="164592"/>
              </a:xfrm>
              <a:prstGeom prst="rect">
                <a:avLst/>
              </a:prstGeom>
              <a:solidFill>
                <a:srgbClr val="0071C1"/>
              </a:solidFill>
              <a:ln/>
            </p:spPr>
          </p:sp>
          <p:sp>
            <p:nvSpPr>
              <p:cNvPr id="48" name="Text 44"/>
              <p:cNvSpPr/>
              <p:nvPr/>
            </p:nvSpPr>
            <p:spPr>
              <a:xfrm>
                <a:off x="6537960" y="3182112"/>
                <a:ext cx="5394960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ARDL forecast</a:t>
                </a:r>
                <a:endParaRPr lang="en-US" sz="1200" dirty="0"/>
              </a:p>
            </p:txBody>
          </p:sp>
          <p:pic>
            <p:nvPicPr>
              <p:cNvPr id="49" name="Image 2" descr="shots/image50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2989" y="3608044"/>
                <a:ext cx="2901823" cy="1541064"/>
              </a:xfrm>
              <a:prstGeom prst="rect">
                <a:avLst/>
              </a:prstGeom>
            </p:spPr>
          </p:pic>
          <p:sp>
            <p:nvSpPr>
              <p:cNvPr id="50" name="Shape 45"/>
              <p:cNvSpPr/>
              <p:nvPr/>
            </p:nvSpPr>
            <p:spPr>
              <a:xfrm>
                <a:off x="10149840" y="3602736"/>
                <a:ext cx="1627632" cy="329184"/>
              </a:xfrm>
              <a:prstGeom prst="roundRect">
                <a:avLst>
                  <a:gd name="adj" fmla="val 11111"/>
                </a:avLst>
              </a:prstGeom>
              <a:solidFill>
                <a:srgbClr val="EAF3FB"/>
              </a:solidFill>
              <a:ln/>
            </p:spPr>
          </p:sp>
          <p:sp>
            <p:nvSpPr>
              <p:cNvPr id="51" name="Text 46"/>
              <p:cNvSpPr/>
              <p:nvPr/>
            </p:nvSpPr>
            <p:spPr>
              <a:xfrm>
                <a:off x="10149840" y="3602736"/>
                <a:ext cx="1627632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00528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MAPE 2.59%</a:t>
                </a:r>
                <a:endParaRPr lang="en-US" sz="1000" dirty="0"/>
              </a:p>
            </p:txBody>
          </p:sp>
          <p:sp>
            <p:nvSpPr>
              <p:cNvPr id="52" name="Shape 47"/>
              <p:cNvSpPr/>
              <p:nvPr/>
            </p:nvSpPr>
            <p:spPr>
              <a:xfrm>
                <a:off x="10149840" y="3968496"/>
                <a:ext cx="1627632" cy="329184"/>
              </a:xfrm>
              <a:prstGeom prst="roundRect">
                <a:avLst>
                  <a:gd name="adj" fmla="val 11111"/>
                </a:avLst>
              </a:prstGeom>
              <a:solidFill>
                <a:srgbClr val="EAF3FB"/>
              </a:solidFill>
              <a:ln/>
            </p:spPr>
          </p:sp>
          <p:sp>
            <p:nvSpPr>
              <p:cNvPr id="53" name="Text 48"/>
              <p:cNvSpPr/>
              <p:nvPr/>
            </p:nvSpPr>
            <p:spPr>
              <a:xfrm>
                <a:off x="10149840" y="3968496"/>
                <a:ext cx="1627632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00528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RMSE $19/t</a:t>
                </a:r>
                <a:endParaRPr lang="en-US" sz="1000" dirty="0"/>
              </a:p>
            </p:txBody>
          </p:sp>
          <p:sp>
            <p:nvSpPr>
              <p:cNvPr id="54" name="Shape 49"/>
              <p:cNvSpPr/>
              <p:nvPr/>
            </p:nvSpPr>
            <p:spPr>
              <a:xfrm>
                <a:off x="10149840" y="4334256"/>
                <a:ext cx="1627632" cy="329184"/>
              </a:xfrm>
              <a:prstGeom prst="roundRect">
                <a:avLst>
                  <a:gd name="adj" fmla="val 11111"/>
                </a:avLst>
              </a:prstGeom>
              <a:solidFill>
                <a:srgbClr val="EAF3FB"/>
              </a:solidFill>
              <a:ln/>
            </p:spPr>
          </p:sp>
          <p:sp>
            <p:nvSpPr>
              <p:cNvPr id="55" name="Text 50"/>
              <p:cNvSpPr/>
              <p:nvPr/>
            </p:nvSpPr>
            <p:spPr>
              <a:xfrm>
                <a:off x="10149840" y="4334256"/>
                <a:ext cx="1627632" cy="32918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00528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R² 0.978</a:t>
                </a:r>
                <a:endParaRPr lang="en-US" sz="1000" dirty="0"/>
              </a:p>
            </p:txBody>
          </p:sp>
        </p:grpSp>
      </p:grpSp>
      <p:sp>
        <p:nvSpPr>
          <p:cNvPr id="58" name="Text 53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HRC dashboard — regimes &amp; forecasting tabs. In-sample fit shown; forecasts carry wide bands and are decision inputs, not targets.</a:t>
            </a:r>
            <a:endParaRPr lang="en-US" sz="75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80FDC35-6AB5-0E91-4C7F-1E9E685BC42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11D6A626-4FD9-5853-4D02-E034C8563C5A}"/>
              </a:ext>
            </a:extLst>
          </p:cNvPr>
          <p:cNvGrpSpPr/>
          <p:nvPr/>
        </p:nvGrpSpPr>
        <p:grpSpPr>
          <a:xfrm>
            <a:off x="256032" y="1681918"/>
            <a:ext cx="6191067" cy="4345631"/>
            <a:chOff x="256032" y="1612470"/>
            <a:chExt cx="6191067" cy="4345631"/>
          </a:xfrm>
        </p:grpSpPr>
        <p:sp>
          <p:nvSpPr>
            <p:cNvPr id="19" name="Shape 17"/>
            <p:cNvSpPr/>
            <p:nvPr/>
          </p:nvSpPr>
          <p:spPr>
            <a:xfrm>
              <a:off x="274320" y="1612470"/>
              <a:ext cx="6035040" cy="37490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274320" y="1612470"/>
              <a:ext cx="6035040" cy="329184"/>
            </a:xfrm>
            <a:prstGeom prst="roundRect">
              <a:avLst>
                <a:gd name="adj" fmla="val 13889"/>
              </a:avLst>
            </a:prstGeom>
            <a:solidFill>
              <a:srgbClr val="0071C1"/>
            </a:solidFill>
            <a:ln/>
          </p:spPr>
        </p:sp>
        <p:sp>
          <p:nvSpPr>
            <p:cNvPr id="21" name="Shape 19"/>
            <p:cNvSpPr/>
            <p:nvPr/>
          </p:nvSpPr>
          <p:spPr>
            <a:xfrm>
              <a:off x="274320" y="1777062"/>
              <a:ext cx="6035040" cy="164592"/>
            </a:xfrm>
            <a:prstGeom prst="rect">
              <a:avLst/>
            </a:prstGeom>
            <a:solidFill>
              <a:srgbClr val="0071C1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274320" y="1612470"/>
              <a:ext cx="60350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Data-discovered regimes (COVID period shaded)</a:t>
              </a:r>
              <a:endParaRPr lang="en-US" sz="1200" dirty="0"/>
            </a:p>
          </p:txBody>
        </p:sp>
        <p:pic>
          <p:nvPicPr>
            <p:cNvPr id="23" name="Image 0" descr="shots/image45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527" y="2051381"/>
              <a:ext cx="5681473" cy="3168697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5ADD6C4D-B05D-C67B-8B9F-3BA85C956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6032" y="5554512"/>
              <a:ext cx="6191067" cy="40358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79222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393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HRC &amp; SUPPLY CHAIN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310128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RIVALS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28032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45936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863840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EAF3FB"/>
          </a:solidFill>
          <a:ln w="12700">
            <a:solidFill>
              <a:srgbClr val="CF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381744" y="164592"/>
            <a:ext cx="1453896" cy="402336"/>
          </a:xfrm>
          <a:prstGeom prst="roundRect">
            <a:avLst>
              <a:gd name="adj" fmla="val 13636"/>
            </a:avLst>
          </a:prstGeom>
          <a:solidFill>
            <a:srgbClr val="00528E"/>
          </a:solidFill>
          <a:ln w="12700">
            <a:solidFill>
              <a:srgbClr val="0052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63456" y="16459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6583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— What the Evidence Says to Do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274320" y="1078992"/>
            <a:ext cx="1165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mapped to the calls SPA : posture, timing, and the one thing to watch.</a:t>
            </a:r>
            <a:endParaRPr lang="en-US" sz="1150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91AC251-14DA-7C7C-6354-D31690A47F4D}"/>
              </a:ext>
            </a:extLst>
          </p:cNvPr>
          <p:cNvGrpSpPr/>
          <p:nvPr/>
        </p:nvGrpSpPr>
        <p:grpSpPr>
          <a:xfrm>
            <a:off x="274320" y="1865376"/>
            <a:ext cx="11658600" cy="3950208"/>
            <a:chOff x="274320" y="1865376"/>
            <a:chExt cx="11658600" cy="3950208"/>
          </a:xfrm>
        </p:grpSpPr>
        <p:sp>
          <p:nvSpPr>
            <p:cNvPr id="19" name="Shape 17"/>
            <p:cNvSpPr/>
            <p:nvPr/>
          </p:nvSpPr>
          <p:spPr>
            <a:xfrm>
              <a:off x="274320" y="1865376"/>
              <a:ext cx="3752088" cy="1481328"/>
            </a:xfrm>
            <a:prstGeom prst="roundRect">
              <a:avLst>
                <a:gd name="adj" fmla="val 283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438912" y="2029968"/>
              <a:ext cx="420624" cy="420624"/>
            </a:xfrm>
            <a:prstGeom prst="ellipse">
              <a:avLst/>
            </a:prstGeom>
            <a:solidFill>
              <a:srgbClr val="0071C1"/>
            </a:solidFill>
            <a:ln/>
          </p:spPr>
        </p:sp>
        <p:sp>
          <p:nvSpPr>
            <p:cNvPr id="21" name="Text 19"/>
            <p:cNvSpPr/>
            <p:nvPr/>
          </p:nvSpPr>
          <p:spPr>
            <a:xfrm>
              <a:off x="438912" y="2029968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500" dirty="0"/>
            </a:p>
          </p:txBody>
        </p:sp>
        <p:pic>
          <p:nvPicPr>
            <p:cNvPr id="2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2904" y="2066544"/>
              <a:ext cx="365760" cy="365760"/>
            </a:xfrm>
            <a:prstGeom prst="rect">
              <a:avLst/>
            </a:prstGeom>
          </p:spPr>
        </p:pic>
        <p:sp>
          <p:nvSpPr>
            <p:cNvPr id="23" name="Text 20"/>
            <p:cNvSpPr/>
            <p:nvPr/>
          </p:nvSpPr>
          <p:spPr>
            <a:xfrm>
              <a:off x="950976" y="2011680"/>
              <a:ext cx="2380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market is flattening, not falling</a:t>
              </a:r>
              <a:endParaRPr lang="en-US" sz="1200" dirty="0"/>
            </a:p>
          </p:txBody>
        </p:sp>
        <p:sp>
          <p:nvSpPr>
            <p:cNvPr id="24" name="Text 21"/>
            <p:cNvSpPr/>
            <p:nvPr/>
          </p:nvSpPr>
          <p:spPr>
            <a:xfrm>
              <a:off x="457200" y="2560320"/>
              <a:ext cx="3386328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After a +27% climb, the forecast says prices hold. Holding is not falling.</a:t>
              </a:r>
              <a:endParaRPr lang="en-US" sz="1000" dirty="0"/>
            </a:p>
          </p:txBody>
        </p:sp>
        <p:sp>
          <p:nvSpPr>
            <p:cNvPr id="27" name="Shape 24"/>
            <p:cNvSpPr/>
            <p:nvPr/>
          </p:nvSpPr>
          <p:spPr>
            <a:xfrm>
              <a:off x="4227576" y="1865376"/>
              <a:ext cx="3752088" cy="1481328"/>
            </a:xfrm>
            <a:prstGeom prst="roundRect">
              <a:avLst>
                <a:gd name="adj" fmla="val 283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8" name="Shape 25"/>
            <p:cNvSpPr/>
            <p:nvPr/>
          </p:nvSpPr>
          <p:spPr>
            <a:xfrm>
              <a:off x="4392168" y="2029968"/>
              <a:ext cx="420624" cy="420624"/>
            </a:xfrm>
            <a:prstGeom prst="ellipse">
              <a:avLst/>
            </a:prstGeom>
            <a:solidFill>
              <a:srgbClr val="0071C1"/>
            </a:solidFill>
            <a:ln/>
          </p:spPr>
        </p:sp>
        <p:sp>
          <p:nvSpPr>
            <p:cNvPr id="29" name="Text 26"/>
            <p:cNvSpPr/>
            <p:nvPr/>
          </p:nvSpPr>
          <p:spPr>
            <a:xfrm>
              <a:off x="4392168" y="2029968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500" dirty="0"/>
            </a:p>
          </p:txBody>
        </p:sp>
        <p:pic>
          <p:nvPicPr>
            <p:cNvPr id="3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76160" y="2066544"/>
              <a:ext cx="365760" cy="365760"/>
            </a:xfrm>
            <a:prstGeom prst="rect">
              <a:avLst/>
            </a:prstGeom>
          </p:spPr>
        </p:pic>
        <p:sp>
          <p:nvSpPr>
            <p:cNvPr id="31" name="Text 27"/>
            <p:cNvSpPr/>
            <p:nvPr/>
          </p:nvSpPr>
          <p:spPr>
            <a:xfrm>
              <a:off x="4904232" y="2011680"/>
              <a:ext cx="2380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Hold the line — do not cut</a:t>
              </a:r>
              <a:endParaRPr lang="en-US" sz="1200" dirty="0"/>
            </a:p>
          </p:txBody>
        </p:sp>
        <p:sp>
          <p:nvSpPr>
            <p:cNvPr id="32" name="Text 28"/>
            <p:cNvSpPr/>
            <p:nvPr/>
          </p:nvSpPr>
          <p:spPr>
            <a:xfrm>
              <a:off x="4410456" y="2560320"/>
              <a:ext cx="3386328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Cutting now gives back hard-won gains for no real reason.</a:t>
              </a:r>
              <a:endParaRPr lang="en-US" sz="1000" dirty="0"/>
            </a:p>
          </p:txBody>
        </p:sp>
        <p:sp>
          <p:nvSpPr>
            <p:cNvPr id="35" name="Shape 31"/>
            <p:cNvSpPr/>
            <p:nvPr/>
          </p:nvSpPr>
          <p:spPr>
            <a:xfrm>
              <a:off x="8180832" y="1865376"/>
              <a:ext cx="3752088" cy="1481328"/>
            </a:xfrm>
            <a:prstGeom prst="roundRect">
              <a:avLst>
                <a:gd name="adj" fmla="val 283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6" name="Shape 32"/>
            <p:cNvSpPr/>
            <p:nvPr/>
          </p:nvSpPr>
          <p:spPr>
            <a:xfrm>
              <a:off x="8345424" y="2029968"/>
              <a:ext cx="420624" cy="420624"/>
            </a:xfrm>
            <a:prstGeom prst="ellipse">
              <a:avLst/>
            </a:prstGeom>
            <a:solidFill>
              <a:srgbClr val="0071C1"/>
            </a:solidFill>
            <a:ln/>
          </p:spPr>
        </p:sp>
        <p:sp>
          <p:nvSpPr>
            <p:cNvPr id="37" name="Text 33"/>
            <p:cNvSpPr/>
            <p:nvPr/>
          </p:nvSpPr>
          <p:spPr>
            <a:xfrm>
              <a:off x="8345424" y="2029968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500" dirty="0"/>
            </a:p>
          </p:txBody>
        </p:sp>
        <p:pic>
          <p:nvPicPr>
            <p:cNvPr id="3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329416" y="2066544"/>
              <a:ext cx="365760" cy="365760"/>
            </a:xfrm>
            <a:prstGeom prst="rect">
              <a:avLst/>
            </a:prstGeom>
          </p:spPr>
        </p:pic>
        <p:sp>
          <p:nvSpPr>
            <p:cNvPr id="39" name="Text 34"/>
            <p:cNvSpPr/>
            <p:nvPr/>
          </p:nvSpPr>
          <p:spPr>
            <a:xfrm>
              <a:off x="8857488" y="2011680"/>
              <a:ext cx="2380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Margins are strong — room to hold</a:t>
              </a:r>
              <a:endParaRPr lang="en-US" sz="1200" dirty="0"/>
            </a:p>
          </p:txBody>
        </p:sp>
        <p:sp>
          <p:nvSpPr>
            <p:cNvPr id="40" name="Text 35"/>
            <p:cNvSpPr/>
            <p:nvPr/>
          </p:nvSpPr>
          <p:spPr>
            <a:xfrm>
              <a:off x="8363712" y="2560320"/>
              <a:ext cx="3386328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Profit/tonne is in the healthiest quartile of its history; no need to buy sales with price.</a:t>
              </a:r>
              <a:endParaRPr lang="en-US" sz="1000" dirty="0"/>
            </a:p>
          </p:txBody>
        </p:sp>
        <p:sp>
          <p:nvSpPr>
            <p:cNvPr id="43" name="Shape 38"/>
            <p:cNvSpPr/>
            <p:nvPr/>
          </p:nvSpPr>
          <p:spPr>
            <a:xfrm>
              <a:off x="274320" y="4005072"/>
              <a:ext cx="3752088" cy="1481328"/>
            </a:xfrm>
            <a:prstGeom prst="roundRect">
              <a:avLst>
                <a:gd name="adj" fmla="val 283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4" name="Shape 39"/>
            <p:cNvSpPr/>
            <p:nvPr/>
          </p:nvSpPr>
          <p:spPr>
            <a:xfrm>
              <a:off x="438912" y="4169664"/>
              <a:ext cx="420624" cy="420624"/>
            </a:xfrm>
            <a:prstGeom prst="ellipse">
              <a:avLst/>
            </a:prstGeom>
            <a:solidFill>
              <a:srgbClr val="0071C1"/>
            </a:solidFill>
            <a:ln/>
          </p:spPr>
        </p:sp>
        <p:sp>
          <p:nvSpPr>
            <p:cNvPr id="45" name="Text 40"/>
            <p:cNvSpPr/>
            <p:nvPr/>
          </p:nvSpPr>
          <p:spPr>
            <a:xfrm>
              <a:off x="438912" y="4169664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500" dirty="0"/>
            </a:p>
          </p:txBody>
        </p:sp>
        <p:pic>
          <p:nvPicPr>
            <p:cNvPr id="46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22904" y="4206240"/>
              <a:ext cx="365760" cy="365760"/>
            </a:xfrm>
            <a:prstGeom prst="rect">
              <a:avLst/>
            </a:prstGeom>
          </p:spPr>
        </p:pic>
        <p:sp>
          <p:nvSpPr>
            <p:cNvPr id="47" name="Text 41"/>
            <p:cNvSpPr/>
            <p:nvPr/>
          </p:nvSpPr>
          <p:spPr>
            <a:xfrm>
              <a:off x="950976" y="4151376"/>
              <a:ext cx="2380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China points slightly up</a:t>
              </a:r>
              <a:endParaRPr lang="en-US" sz="1200" dirty="0"/>
            </a:p>
          </p:txBody>
        </p:sp>
        <p:sp>
          <p:nvSpPr>
            <p:cNvPr id="48" name="Text 42"/>
            <p:cNvSpPr/>
            <p:nvPr/>
          </p:nvSpPr>
          <p:spPr>
            <a:xfrm>
              <a:off x="457200" y="4700016"/>
              <a:ext cx="3386328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China rose last month and tends to lead India ~1 m — a gentle upward pull, if anything.</a:t>
              </a:r>
              <a:endParaRPr lang="en-US" sz="1000" dirty="0"/>
            </a:p>
          </p:txBody>
        </p:sp>
        <p:sp>
          <p:nvSpPr>
            <p:cNvPr id="51" name="Shape 45"/>
            <p:cNvSpPr/>
            <p:nvPr/>
          </p:nvSpPr>
          <p:spPr>
            <a:xfrm>
              <a:off x="4227576" y="4005072"/>
              <a:ext cx="3752088" cy="1481328"/>
            </a:xfrm>
            <a:prstGeom prst="roundRect">
              <a:avLst>
                <a:gd name="adj" fmla="val 2830"/>
              </a:avLst>
            </a:prstGeom>
            <a:solidFill>
              <a:srgbClr val="FFFFFF"/>
            </a:solidFill>
            <a:ln w="12700">
              <a:solidFill>
                <a:srgbClr val="CFE0EF"/>
              </a:solidFill>
              <a:prstDash val="solid"/>
            </a:ln>
            <a:effectLst>
              <a:outerShdw blurRad="63500" dist="25400" dir="54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2" name="Shape 46"/>
            <p:cNvSpPr/>
            <p:nvPr/>
          </p:nvSpPr>
          <p:spPr>
            <a:xfrm>
              <a:off x="4392168" y="4169664"/>
              <a:ext cx="420624" cy="420624"/>
            </a:xfrm>
            <a:prstGeom prst="ellipse">
              <a:avLst/>
            </a:prstGeom>
            <a:solidFill>
              <a:srgbClr val="0071C1"/>
            </a:solidFill>
            <a:ln/>
          </p:spPr>
        </p:sp>
        <p:sp>
          <p:nvSpPr>
            <p:cNvPr id="53" name="Text 47"/>
            <p:cNvSpPr/>
            <p:nvPr/>
          </p:nvSpPr>
          <p:spPr>
            <a:xfrm>
              <a:off x="4392168" y="4169664"/>
              <a:ext cx="42062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500" dirty="0"/>
            </a:p>
          </p:txBody>
        </p:sp>
        <p:pic>
          <p:nvPicPr>
            <p:cNvPr id="54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76160" y="4206240"/>
              <a:ext cx="365760" cy="365760"/>
            </a:xfrm>
            <a:prstGeom prst="rect">
              <a:avLst/>
            </a:prstGeom>
          </p:spPr>
        </p:pic>
        <p:sp>
          <p:nvSpPr>
            <p:cNvPr id="55" name="Text 48"/>
            <p:cNvSpPr/>
            <p:nvPr/>
          </p:nvSpPr>
          <p:spPr>
            <a:xfrm>
              <a:off x="4904232" y="4151376"/>
              <a:ext cx="2380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0528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Watch our own costs</a:t>
              </a:r>
              <a:endParaRPr lang="en-US" sz="1200" dirty="0"/>
            </a:p>
          </p:txBody>
        </p:sp>
        <p:sp>
          <p:nvSpPr>
            <p:cNvPr id="56" name="Text 49"/>
            <p:cNvSpPr/>
            <p:nvPr/>
          </p:nvSpPr>
          <p:spPr>
            <a:xfrm>
              <a:off x="4410456" y="4700016"/>
              <a:ext cx="3386328" cy="786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A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Raw-material costs are creeping up. If they keep rising, raise price — don't absorb it quietly.</a:t>
              </a:r>
              <a:endParaRPr lang="en-US" sz="950" dirty="0"/>
            </a:p>
          </p:txBody>
        </p:sp>
        <p:sp>
          <p:nvSpPr>
            <p:cNvPr id="59" name="Shape 52"/>
            <p:cNvSpPr/>
            <p:nvPr/>
          </p:nvSpPr>
          <p:spPr>
            <a:xfrm>
              <a:off x="8180832" y="4005072"/>
              <a:ext cx="3752088" cy="1481328"/>
            </a:xfrm>
            <a:prstGeom prst="roundRect">
              <a:avLst>
                <a:gd name="adj" fmla="val 2830"/>
              </a:avLst>
            </a:prstGeom>
            <a:solidFill>
              <a:srgbClr val="00528E"/>
            </a:solidFill>
            <a:ln/>
          </p:spPr>
        </p:sp>
        <p:sp>
          <p:nvSpPr>
            <p:cNvPr id="60" name="Text 53"/>
            <p:cNvSpPr/>
            <p:nvPr/>
          </p:nvSpPr>
          <p:spPr>
            <a:xfrm>
              <a:off x="8363712" y="4151376"/>
              <a:ext cx="33863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A3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Bottom line</a:t>
              </a:r>
              <a:endParaRPr lang="en-US" sz="1200" dirty="0"/>
            </a:p>
          </p:txBody>
        </p:sp>
        <p:sp>
          <p:nvSpPr>
            <p:cNvPr id="61" name="Text 54"/>
            <p:cNvSpPr/>
            <p:nvPr/>
          </p:nvSpPr>
          <p:spPr>
            <a:xfrm>
              <a:off x="8363712" y="4480560"/>
              <a:ext cx="3386328" cy="1335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Hold price. Defend margin. 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DCEBF7"/>
                  </a:solidFill>
                </a:rPr>
                <a:t>Watch iron ore &amp; coking coal as the early warning signal — and pass cost through if it rises.</a:t>
              </a:r>
              <a:endParaRPr lang="en-US" sz="1100" dirty="0"/>
            </a:p>
          </p:txBody>
        </p:sp>
      </p:grpSp>
      <p:sp>
        <p:nvSpPr>
          <p:cNvPr id="62" name="Text 55"/>
          <p:cNvSpPr/>
          <p:nvPr/>
        </p:nvSpPr>
        <p:spPr>
          <a:xfrm>
            <a:off x="274320" y="6601968"/>
            <a:ext cx="1165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synthesis of HRC dashboard outputs (forecast, spread percentile, lead-lag, attribution). Recommendations are evidence-based inputs; pricing decisions rest with the Pricing Committee.</a:t>
            </a:r>
            <a:endParaRPr lang="en-US" sz="7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E56EE611-D11B-E709-E579-72C01F239D2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68448" y="-210312"/>
            <a:ext cx="1146048" cy="1146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52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Gives Tata Steel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4320" y="1517904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we now know with evidence instead of instinct — and a capability that keeps learning.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2148840"/>
            <a:ext cx="11612880" cy="603504"/>
          </a:xfrm>
          <a:prstGeom prst="roundRect">
            <a:avLst>
              <a:gd name="adj" fmla="val 7576"/>
            </a:avLst>
          </a:prstGeom>
          <a:solidFill>
            <a:srgbClr val="0A6AB0"/>
          </a:solidFill>
          <a:ln w="12700">
            <a:solidFill>
              <a:srgbClr val="2E86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2267712"/>
            <a:ext cx="365760" cy="365760"/>
          </a:xfrm>
          <a:prstGeom prst="ellipse">
            <a:avLst/>
          </a:prstGeom>
          <a:solidFill>
            <a:srgbClr val="F5A300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2148840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 dominate the price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214884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leads; demand &amp; macro come second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862072"/>
            <a:ext cx="11612880" cy="603504"/>
          </a:xfrm>
          <a:prstGeom prst="roundRect">
            <a:avLst>
              <a:gd name="adj" fmla="val 7576"/>
            </a:avLst>
          </a:prstGeom>
          <a:solidFill>
            <a:srgbClr val="0A6AB0"/>
          </a:solidFill>
          <a:ln w="12700">
            <a:solidFill>
              <a:srgbClr val="2E86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980944"/>
            <a:ext cx="365760" cy="365760"/>
          </a:xfrm>
          <a:prstGeom prst="ellipse">
            <a:avLst/>
          </a:prstGeom>
          <a:solidFill>
            <a:srgbClr val="F5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980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862072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drivers move first — a watch-list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86207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is warning time; track monthly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11612880" cy="603504"/>
          </a:xfrm>
          <a:prstGeom prst="roundRect">
            <a:avLst>
              <a:gd name="adj" fmla="val 7576"/>
            </a:avLst>
          </a:prstGeom>
          <a:solidFill>
            <a:srgbClr val="0A6AB0"/>
          </a:solidFill>
          <a:ln w="12700">
            <a:solidFill>
              <a:srgbClr val="2E86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3694176"/>
            <a:ext cx="365760" cy="365760"/>
          </a:xfrm>
          <a:prstGeom prst="ellipse">
            <a:avLst/>
          </a:prstGeom>
          <a:solidFill>
            <a:srgbClr val="F5A300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575304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shows where margin sits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57530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context for today's reading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88536"/>
            <a:ext cx="11612880" cy="603504"/>
          </a:xfrm>
          <a:prstGeom prst="roundRect">
            <a:avLst>
              <a:gd name="adj" fmla="val 7576"/>
            </a:avLst>
          </a:prstGeom>
          <a:solidFill>
            <a:srgbClr val="0A6AB0"/>
          </a:solidFill>
          <a:ln w="12700">
            <a:solidFill>
              <a:srgbClr val="2E86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4407408"/>
            <a:ext cx="365760" cy="365760"/>
          </a:xfrm>
          <a:prstGeom prst="ellipse">
            <a:avLst/>
          </a:prstGeom>
          <a:solidFill>
            <a:srgbClr val="F5A300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4288536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gives India a ~1-month head start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428853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but real cross-region signal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5001768"/>
            <a:ext cx="11612880" cy="603504"/>
          </a:xfrm>
          <a:prstGeom prst="roundRect">
            <a:avLst>
              <a:gd name="adj" fmla="val 7576"/>
            </a:avLst>
          </a:prstGeom>
          <a:solidFill>
            <a:srgbClr val="0A6AB0"/>
          </a:solidFill>
          <a:ln w="12700">
            <a:solidFill>
              <a:srgbClr val="2E86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5120640"/>
            <a:ext cx="365760" cy="365760"/>
          </a:xfrm>
          <a:prstGeom prst="ellipse">
            <a:avLst/>
          </a:prstGeom>
          <a:solidFill>
            <a:srgbClr val="F5A300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" y="5001768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Recognisable moods — we explain the turns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500176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 deep-dive validated the engine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5870448"/>
            <a:ext cx="11612880" cy="713232"/>
          </a:xfrm>
          <a:prstGeom prst="roundRect">
            <a:avLst>
              <a:gd name="adj" fmla="val 7692"/>
            </a:avLst>
          </a:prstGeom>
          <a:solidFill>
            <a:srgbClr val="003A66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6089904"/>
            <a:ext cx="310896" cy="31089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50976" y="587044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300"/>
                </a:solidFill>
              </a:rPr>
              <a:t>A living capability, not a one-off study.  </a:t>
            </a:r>
            <a:r>
              <a:rPr lang="en-US" sz="1100" dirty="0">
                <a:solidFill>
                  <a:srgbClr val="FFFFFF"/>
                </a:solidFill>
              </a:rPr>
              <a:t>The dashboard refreshes every month — same validated engine, ten interactive tabs.   </a:t>
            </a:r>
            <a:r>
              <a:rPr lang="en-US" sz="1100" i="1" dirty="0">
                <a:solidFill>
                  <a:srgbClr val="9CC6E6"/>
                </a:solidFill>
              </a:rPr>
              <a:t>hrcpipeline-tata-bharat.streamlit.app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7A1772-F83D-6B75-3FEF-BA7F83F43BCC}"/>
              </a:ext>
            </a:extLst>
          </p:cNvPr>
          <p:cNvSpPr/>
          <p:nvPr/>
        </p:nvSpPr>
        <p:spPr>
          <a:xfrm>
            <a:off x="335280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70C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THANK </a:t>
            </a:r>
            <a:r>
              <a:rPr lang="en-US" sz="7200" dirty="0">
                <a:solidFill>
                  <a:srgbClr val="0070C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YOU</a:t>
            </a:r>
            <a:endParaRPr lang="en-US" sz="7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893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2302</Words>
  <Application>Microsoft Macintosh PowerPoint</Application>
  <PresentationFormat>Widescreen</PresentationFormat>
  <Paragraphs>371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Vedika Mimani</cp:lastModifiedBy>
  <cp:revision>5</cp:revision>
  <dcterms:created xsi:type="dcterms:W3CDTF">2026-06-15T06:35:19Z</dcterms:created>
  <dcterms:modified xsi:type="dcterms:W3CDTF">2026-06-26T17:15:10Z</dcterms:modified>
</cp:coreProperties>
</file>